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4" r:id="rId2"/>
    <p:sldId id="275" r:id="rId3"/>
    <p:sldId id="267" r:id="rId4"/>
    <p:sldId id="268" r:id="rId5"/>
    <p:sldId id="265" r:id="rId6"/>
    <p:sldId id="264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iegfried Schubert" initials="G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DA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20" autoAdjust="0"/>
    <p:restoredTop sz="83106" autoAdjust="0"/>
  </p:normalViewPr>
  <p:slideViewPr>
    <p:cSldViewPr snapToGrid="0" snapToObjects="1">
      <p:cViewPr varScale="1">
        <p:scale>
          <a:sx n="89" d="100"/>
          <a:sy n="89" d="100"/>
        </p:scale>
        <p:origin x="-256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interSettings" Target="printerSettings/printerSettings1.bin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92ED-0C3D-B04C-A3B7-61C5D633A3F8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CD8570-6442-5D4E-82E8-FB611245A2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875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CD8570-6442-5D4E-82E8-FB611245A21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81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latin typeface="Times New Roman" pitchFamily="30" charset="0"/>
              </a:rPr>
              <a:t>NASA Ocean Biogeochemical Model (NOBM)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CD8570-6442-5D4E-82E8-FB611245A217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/>
              <a:t>Aviso</a:t>
            </a:r>
            <a:r>
              <a:rPr lang="en-US" dirty="0" smtClean="0"/>
              <a:t> (Archiving, validation, and interpretation of Satellite oceanographic data) have been distributing </a:t>
            </a:r>
            <a:r>
              <a:rPr lang="en-US" dirty="0" err="1" smtClean="0"/>
              <a:t>altimetric</a:t>
            </a:r>
            <a:r>
              <a:rPr lang="en-US" dirty="0" smtClean="0"/>
              <a:t> data worldwide since 1992. Since that date, </a:t>
            </a:r>
            <a:r>
              <a:rPr lang="en-US" i="1" dirty="0" smtClean="0"/>
              <a:t>satellite altimetry</a:t>
            </a:r>
            <a:r>
              <a:rPr lang="en-US" dirty="0" smtClean="0"/>
              <a:t> has evolved in parallel with the user community and oceanography.   </a:t>
            </a:r>
            <a:r>
              <a:rPr lang="en-US" i="1" dirty="0" err="1" smtClean="0"/>
              <a:t>Aviso</a:t>
            </a:r>
            <a:r>
              <a:rPr lang="en-US" dirty="0" smtClean="0"/>
              <a:t> has been distributing </a:t>
            </a:r>
            <a:r>
              <a:rPr lang="en-US" i="1" dirty="0" err="1" smtClean="0"/>
              <a:t>Topex</a:t>
            </a:r>
            <a:r>
              <a:rPr lang="en-US" dirty="0" smtClean="0"/>
              <a:t>/</a:t>
            </a:r>
            <a:r>
              <a:rPr lang="en-US" i="1" dirty="0" smtClean="0"/>
              <a:t>Poseidon</a:t>
            </a:r>
            <a:r>
              <a:rPr lang="en-US" dirty="0" smtClean="0"/>
              <a:t> and </a:t>
            </a:r>
            <a:r>
              <a:rPr lang="en-US" i="1" dirty="0" smtClean="0"/>
              <a:t>ERS</a:t>
            </a:r>
            <a:r>
              <a:rPr lang="en-US" dirty="0" smtClean="0"/>
              <a:t> </a:t>
            </a:r>
            <a:r>
              <a:rPr lang="en-US" dirty="0" err="1" smtClean="0"/>
              <a:t>altimetric</a:t>
            </a:r>
            <a:r>
              <a:rPr lang="en-US" dirty="0" smtClean="0"/>
              <a:t> data worldwide since 1992. Since launches of </a:t>
            </a:r>
            <a:r>
              <a:rPr lang="en-US" i="1" dirty="0" smtClean="0"/>
              <a:t>Jason</a:t>
            </a:r>
            <a:r>
              <a:rPr lang="en-US" dirty="0" smtClean="0"/>
              <a:t>-1 in December 2001 and of </a:t>
            </a:r>
            <a:r>
              <a:rPr lang="en-US" dirty="0" err="1" smtClean="0"/>
              <a:t>Envisat</a:t>
            </a:r>
            <a:r>
              <a:rPr lang="en-US" dirty="0" smtClean="0"/>
              <a:t> in March 2002, a new </a:t>
            </a:r>
            <a:r>
              <a:rPr lang="en-US" dirty="0" err="1" smtClean="0"/>
              <a:t>serie</a:t>
            </a:r>
            <a:r>
              <a:rPr lang="en-US" dirty="0" smtClean="0"/>
              <a:t> of products has been completing the AVISO catalogue. Following table presents applications, features and time availability of all available products obtained by satellite or combining available data of all satellites. </a:t>
            </a:r>
            <a:r>
              <a:rPr lang="en-US" baseline="0" dirty="0" smtClean="0"/>
              <a:t> </a:t>
            </a:r>
            <a:r>
              <a:rPr lang="en-US" dirty="0" err="1" smtClean="0"/>
              <a:t>Ssalto/</a:t>
            </a:r>
            <a:r>
              <a:rPr lang="en-US" i="1" dirty="0" err="1" smtClean="0"/>
              <a:t>Duacs</a:t>
            </a:r>
            <a:r>
              <a:rPr lang="en-US" dirty="0" smtClean="0"/>
              <a:t> products are </a:t>
            </a:r>
            <a:r>
              <a:rPr lang="en-US" dirty="0" err="1" smtClean="0"/>
              <a:t>intercalibrated</a:t>
            </a:r>
            <a:r>
              <a:rPr lang="en-US" dirty="0" smtClean="0"/>
              <a:t> at crossover points; considering two datasets (for example coming from </a:t>
            </a:r>
            <a:r>
              <a:rPr lang="en-US" i="1" dirty="0" smtClean="0"/>
              <a:t>Jason</a:t>
            </a:r>
            <a:r>
              <a:rPr lang="en-US" dirty="0" smtClean="0"/>
              <a:t>-1 and </a:t>
            </a:r>
            <a:r>
              <a:rPr lang="en-US" dirty="0" err="1" smtClean="0"/>
              <a:t>Envisat</a:t>
            </a:r>
            <a:r>
              <a:rPr lang="en-US" dirty="0" smtClean="0"/>
              <a:t>), only </a:t>
            </a:r>
            <a:r>
              <a:rPr lang="en-US" dirty="0" err="1" smtClean="0"/>
              <a:t>Ssalto/</a:t>
            </a:r>
            <a:r>
              <a:rPr lang="en-US" i="1" dirty="0" err="1" smtClean="0"/>
              <a:t>Duacs</a:t>
            </a:r>
            <a:r>
              <a:rPr lang="en-US" dirty="0" smtClean="0"/>
              <a:t> products may be homogeneous at a given point. </a:t>
            </a:r>
            <a:r>
              <a:rPr lang="en-US" dirty="0" err="1" smtClean="0"/>
              <a:t>Ssalto/</a:t>
            </a:r>
            <a:r>
              <a:rPr lang="en-US" i="1" dirty="0" err="1" smtClean="0"/>
              <a:t>Duacs</a:t>
            </a:r>
            <a:r>
              <a:rPr lang="en-US" dirty="0" smtClean="0"/>
              <a:t> gridded products are devoted to scientific applications and non-commercial use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CD8570-6442-5D4E-82E8-FB611245A217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8C4E2F-B3A2-0F4A-BA04-97A8F17C8361}" type="slidenum">
              <a:rPr lang="en-US">
                <a:solidFill>
                  <a:srgbClr val="000000"/>
                </a:solidFill>
                <a:ea typeface="ＭＳ Ｐゴシック" charset="-128"/>
                <a:cs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>
              <a:solidFill>
                <a:srgbClr val="000000"/>
              </a:solidFill>
              <a:ea typeface="ＭＳ Ｐゴシック" charset="-128"/>
              <a:cs typeface="ＭＳ Ｐゴシック" charset="-128"/>
            </a:endParaRPr>
          </a:p>
        </p:txBody>
      </p:sp>
      <p:sp>
        <p:nvSpPr>
          <p:cNvPr id="21507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30300" y="674688"/>
            <a:ext cx="4597400" cy="34480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3763" y="4346575"/>
            <a:ext cx="5070475" cy="41227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89725" tIns="44862" rIns="89725" bIns="44862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Arial" pitchFamily="34" charset="0"/>
              <a:ea typeface="ＭＳ Ｐゴシック" pitchFamily="34" charset="-128"/>
              <a:cs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2B053FF0-46FA-C946-8CA0-B3D65E6A8667}" type="slidenum">
              <a:rPr lang="en-US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3555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ea typeface="ＭＳ Ｐゴシック" pitchFamily="34" charset="-128"/>
              <a:cs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3174F65-57E9-104E-8F11-47336FC0E814}" type="slidenum">
              <a:rPr lang="en-US">
                <a:solidFill>
                  <a:srgbClr val="000000"/>
                </a:solidFill>
                <a:ea typeface="ＭＳ Ｐゴシック" charset="-128"/>
                <a:cs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>
              <a:solidFill>
                <a:srgbClr val="000000"/>
              </a:solidFill>
              <a:ea typeface="ＭＳ Ｐゴシック" charset="-128"/>
              <a:cs typeface="ＭＳ Ｐゴシック" charset="-128"/>
            </a:endParaRPr>
          </a:p>
        </p:txBody>
      </p:sp>
      <p:sp>
        <p:nvSpPr>
          <p:cNvPr id="19459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30300" y="674688"/>
            <a:ext cx="4597400" cy="34480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93763" y="4346575"/>
            <a:ext cx="5070475" cy="41227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wrap="square" lIns="89725" tIns="44862" rIns="89725" bIns="44862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>
              <a:latin typeface="Arial" pitchFamily="34" charset="0"/>
              <a:ea typeface="ＭＳ Ｐゴシック" pitchFamily="34" charset="-128"/>
              <a:cs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A4616-83DD-1E4D-97AA-FC81CEB130B0}" type="datetimeFigureOut">
              <a:rPr lang="en-US" smtClean="0"/>
              <a:pPr/>
              <a:t>11/1/11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A0849-5FD8-8349-B479-97EA3316B3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150937" y="22017"/>
            <a:ext cx="6842125" cy="8540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GEOS-5 AGCM for ISI Prediction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60338" y="876091"/>
            <a:ext cx="8767762" cy="595492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sz="18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r>
              <a:rPr lang="en-US" sz="1800" dirty="0" smtClean="0">
                <a:solidFill>
                  <a:srgbClr val="0000FF"/>
                </a:solidFill>
                <a:ea typeface="ＭＳ Ｐゴシック" pitchFamily="34" charset="-128"/>
                <a:cs typeface="ＭＳ Ｐゴシック" pitchFamily="34" charset="-128"/>
              </a:rPr>
              <a:t>Finite volume dynamical core (Lin, 2004)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ea typeface="ＭＳ Ｐゴシック" pitchFamily="34" charset="-128"/>
                <a:cs typeface="ＭＳ Ｐゴシック" pitchFamily="34" charset="-128"/>
              </a:rPr>
              <a:t>1</a:t>
            </a:r>
            <a:r>
              <a:rPr lang="en-US" sz="1800" dirty="0" smtClean="0"/>
              <a:t>°</a:t>
            </a:r>
            <a:r>
              <a:rPr lang="en-US" sz="1800" dirty="0" smtClean="0">
                <a:ea typeface="ＭＳ Ｐゴシック" pitchFamily="34" charset="-128"/>
                <a:cs typeface="ＭＳ Ｐゴシック" pitchFamily="34" charset="-128"/>
              </a:rPr>
              <a:t>x1.25</a:t>
            </a:r>
            <a:r>
              <a:rPr lang="en-US" sz="1800" dirty="0" smtClean="0"/>
              <a:t>°</a:t>
            </a:r>
            <a:r>
              <a:rPr lang="en-US" sz="1800" dirty="0" smtClean="0">
                <a:ea typeface="ＭＳ Ｐゴシック" pitchFamily="34" charset="-128"/>
                <a:cs typeface="ＭＳ Ｐゴシック" pitchFamily="34" charset="-128"/>
              </a:rPr>
              <a:t>x72 layers</a:t>
            </a:r>
          </a:p>
          <a:p>
            <a:pPr lvl="1">
              <a:buFont typeface="Arial" pitchFamily="34" charset="0"/>
              <a:buChar char="•"/>
            </a:pPr>
            <a:endParaRPr lang="en-US" sz="1800" dirty="0" smtClean="0">
              <a:solidFill>
                <a:srgbClr val="0000FF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pPr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Convection: Relaxed Arakawa-Schubert (</a:t>
            </a:r>
            <a:r>
              <a:rPr lang="en-US" sz="1800" dirty="0" err="1" smtClean="0">
                <a:solidFill>
                  <a:srgbClr val="0000FF"/>
                </a:solidFill>
                <a:latin typeface="Calibri" pitchFamily="-108" charset="0"/>
              </a:rPr>
              <a:t>Moorthi</a:t>
            </a: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and Suarez, 1992)</a:t>
            </a:r>
          </a:p>
          <a:p>
            <a:pPr lvl="1">
              <a:buFont typeface="Arial" pitchFamily="-108" charset="0"/>
              <a:buChar char="•"/>
            </a:pPr>
            <a:r>
              <a:rPr lang="en-US" sz="1806" dirty="0" smtClean="0">
                <a:solidFill>
                  <a:srgbClr val="000000"/>
                </a:solidFill>
                <a:latin typeface="Calibri" pitchFamily="-108" charset="0"/>
              </a:rPr>
              <a:t>Modified after </a:t>
            </a:r>
            <a:r>
              <a:rPr lang="en-US" sz="1806" dirty="0" err="1" smtClean="0">
                <a:solidFill>
                  <a:srgbClr val="000000"/>
                </a:solidFill>
                <a:latin typeface="Calibri" pitchFamily="-108" charset="0"/>
              </a:rPr>
              <a:t>Sud</a:t>
            </a:r>
            <a:r>
              <a:rPr lang="en-US" sz="1806" dirty="0" smtClean="0">
                <a:solidFill>
                  <a:srgbClr val="000000"/>
                </a:solidFill>
                <a:latin typeface="Calibri" pitchFamily="-108" charset="0"/>
              </a:rPr>
              <a:t> and Walker (1999) to compute rainout from updraft</a:t>
            </a:r>
          </a:p>
          <a:p>
            <a:pPr lvl="1"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00"/>
                </a:solidFill>
                <a:latin typeface="Calibri" pitchFamily="-108" charset="0"/>
              </a:rPr>
              <a:t>Stochastic </a:t>
            </a:r>
            <a:r>
              <a:rPr lang="en-US" sz="1800" dirty="0" err="1" smtClean="0">
                <a:solidFill>
                  <a:srgbClr val="000000"/>
                </a:solidFill>
                <a:latin typeface="Calibri" pitchFamily="-108" charset="0"/>
              </a:rPr>
              <a:t>Tokioka</a:t>
            </a:r>
            <a:r>
              <a:rPr lang="en-US" sz="1800" dirty="0" smtClean="0">
                <a:solidFill>
                  <a:srgbClr val="000000"/>
                </a:solidFill>
                <a:latin typeface="Calibri" pitchFamily="-108" charset="0"/>
              </a:rPr>
              <a:t> (1988) trigger</a:t>
            </a:r>
          </a:p>
          <a:p>
            <a:endParaRPr lang="en-US" sz="1800" dirty="0" smtClean="0">
              <a:solidFill>
                <a:srgbClr val="0000FF"/>
              </a:solidFill>
              <a:latin typeface="Calibri" pitchFamily="-108" charset="0"/>
            </a:endParaRPr>
          </a:p>
          <a:p>
            <a:pPr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Prognostic Cloud/Microphysics: </a:t>
            </a:r>
            <a:r>
              <a:rPr lang="en-US" sz="1800" dirty="0" err="1" smtClean="0">
                <a:solidFill>
                  <a:srgbClr val="0000FF"/>
                </a:solidFill>
                <a:latin typeface="Calibri" pitchFamily="-108" charset="0"/>
              </a:rPr>
              <a:t>Bacmeister</a:t>
            </a: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et al. (2006)</a:t>
            </a:r>
          </a:p>
          <a:p>
            <a:endParaRPr lang="en-US" sz="1800" dirty="0" smtClean="0">
              <a:solidFill>
                <a:srgbClr val="0000FF"/>
              </a:solidFill>
              <a:latin typeface="Calibri" pitchFamily="-108" charset="0"/>
            </a:endParaRPr>
          </a:p>
          <a:p>
            <a:pPr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Boundary Layer: Lock (2000) and Louis (1982)</a:t>
            </a:r>
          </a:p>
          <a:p>
            <a:pPr lvl="1">
              <a:buFont typeface="Arial" pitchFamily="-108" charset="0"/>
              <a:buChar char="•"/>
            </a:pPr>
            <a:r>
              <a:rPr lang="en-US" sz="1806" dirty="0" smtClean="0">
                <a:solidFill>
                  <a:srgbClr val="000000"/>
                </a:solidFill>
                <a:latin typeface="Calibri" pitchFamily="-108" charset="0"/>
              </a:rPr>
              <a:t>Use larger of K values from the two schemes</a:t>
            </a:r>
          </a:p>
          <a:p>
            <a:pPr lvl="1"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00"/>
                </a:solidFill>
                <a:latin typeface="Calibri" pitchFamily="-108" charset="0"/>
              </a:rPr>
              <a:t>Lock scheme suppressed in presence of wind shear</a:t>
            </a:r>
          </a:p>
          <a:p>
            <a:pPr lvl="1"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00"/>
                </a:solidFill>
                <a:latin typeface="Calibri" pitchFamily="-108" charset="0"/>
              </a:rPr>
              <a:t>Louis turbulent length scale from (diagnosed from K profile) PBL depth</a:t>
            </a:r>
          </a:p>
          <a:p>
            <a:endParaRPr lang="en-US" sz="1800" dirty="0" smtClean="0">
              <a:solidFill>
                <a:srgbClr val="0000FF"/>
              </a:solidFill>
              <a:latin typeface="Calibri" pitchFamily="-108" charset="0"/>
            </a:endParaRPr>
          </a:p>
          <a:p>
            <a:pPr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Radiation: Shortwave – Chou and Suarez (1999), </a:t>
            </a:r>
            <a:r>
              <a:rPr lang="en-US" sz="1800" dirty="0" err="1" smtClean="0">
                <a:solidFill>
                  <a:srgbClr val="0000FF"/>
                </a:solidFill>
                <a:latin typeface="Calibri" pitchFamily="-108" charset="0"/>
              </a:rPr>
              <a:t>Longwave</a:t>
            </a: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– Chou et al. (2001)</a:t>
            </a:r>
          </a:p>
          <a:p>
            <a:endParaRPr lang="en-US" sz="1800" dirty="0" smtClean="0">
              <a:solidFill>
                <a:srgbClr val="0000FF"/>
              </a:solidFill>
              <a:latin typeface="Calibri" pitchFamily="-108" charset="0"/>
            </a:endParaRPr>
          </a:p>
          <a:p>
            <a:pPr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Surface Layer: </a:t>
            </a:r>
            <a:r>
              <a:rPr lang="en-US" sz="1800" dirty="0" err="1" smtClean="0">
                <a:solidFill>
                  <a:srgbClr val="0000FF"/>
                </a:solidFill>
                <a:latin typeface="Calibri" pitchFamily="-108" charset="0"/>
              </a:rPr>
              <a:t>Monin-Obukov</a:t>
            </a: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 of </a:t>
            </a:r>
            <a:r>
              <a:rPr lang="en-US" sz="1800" dirty="0" err="1" smtClean="0">
                <a:solidFill>
                  <a:srgbClr val="0000FF"/>
                </a:solidFill>
                <a:latin typeface="Calibri" pitchFamily="-108" charset="0"/>
              </a:rPr>
              <a:t>Helfand</a:t>
            </a: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and Schubert (1995)</a:t>
            </a:r>
          </a:p>
          <a:p>
            <a:pPr>
              <a:buFont typeface="Arial" pitchFamily="-108" charset="0"/>
              <a:buChar char="•"/>
            </a:pPr>
            <a:endParaRPr lang="en-US" sz="1800" dirty="0" smtClean="0">
              <a:solidFill>
                <a:srgbClr val="0000FF"/>
              </a:solidFill>
              <a:latin typeface="Calibri" pitchFamily="-108" charset="0"/>
            </a:endParaRPr>
          </a:p>
          <a:p>
            <a:pPr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Gravity Wave Drag Scheme based on McFarlane (1987) and Garcia and </a:t>
            </a:r>
            <a:r>
              <a:rPr lang="en-US" sz="1800" dirty="0" err="1" smtClean="0">
                <a:solidFill>
                  <a:srgbClr val="0000FF"/>
                </a:solidFill>
                <a:latin typeface="Calibri" pitchFamily="-108" charset="0"/>
              </a:rPr>
              <a:t>Boville</a:t>
            </a: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 (1994)</a:t>
            </a:r>
          </a:p>
          <a:p>
            <a:pPr>
              <a:buFont typeface="Arial" pitchFamily="-108" charset="0"/>
              <a:buChar char="•"/>
            </a:pPr>
            <a:endParaRPr lang="en-US" sz="1800" dirty="0" smtClean="0">
              <a:solidFill>
                <a:srgbClr val="0000FF"/>
              </a:solidFill>
              <a:latin typeface="Calibri" pitchFamily="-108" charset="0"/>
            </a:endParaRPr>
          </a:p>
          <a:p>
            <a:pPr>
              <a:buFont typeface="Arial" pitchFamily="-108" charset="0"/>
              <a:buChar char="•"/>
            </a:pPr>
            <a:r>
              <a:rPr lang="en-US" sz="1800" dirty="0" smtClean="0">
                <a:solidFill>
                  <a:srgbClr val="0000FF"/>
                </a:solidFill>
                <a:latin typeface="Calibri" pitchFamily="-108" charset="0"/>
              </a:rPr>
              <a:t>Interactive Aerosol from GOCART model</a:t>
            </a:r>
          </a:p>
          <a:p>
            <a:pPr>
              <a:buFont typeface="Wingdings" pitchFamily="34" charset="2"/>
              <a:buNone/>
            </a:pPr>
            <a:endParaRPr lang="en-US" sz="1800" dirty="0" smtClean="0">
              <a:solidFill>
                <a:srgbClr val="0000FF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r>
              <a:rPr lang="en-US" sz="1800" dirty="0" smtClean="0">
                <a:solidFill>
                  <a:srgbClr val="0000FF"/>
                </a:solidFill>
                <a:ea typeface="ＭＳ Ｐゴシック" pitchFamily="34" charset="-128"/>
                <a:cs typeface="ＭＳ Ｐゴシック" pitchFamily="34" charset="-128"/>
              </a:rPr>
              <a:t>Chemistry</a:t>
            </a:r>
          </a:p>
          <a:p>
            <a:pPr lvl="1"/>
            <a:r>
              <a:rPr lang="en-US" sz="1800" dirty="0" err="1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GHGs</a:t>
            </a:r>
            <a:r>
              <a:rPr lang="en-US" sz="1800" dirty="0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, ozone: relaxation to time evolving specified zonal means consistent with IPCC</a:t>
            </a:r>
          </a:p>
          <a:p>
            <a:pPr lvl="1"/>
            <a:endParaRPr lang="en-US" sz="14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pPr lvl="1">
              <a:buFontTx/>
              <a:buChar char="•"/>
            </a:pPr>
            <a:endParaRPr lang="en-US" sz="1800" dirty="0" smtClean="0">
              <a:solidFill>
                <a:srgbClr val="000090"/>
              </a:solidFill>
            </a:endParaRPr>
          </a:p>
          <a:p>
            <a:endParaRPr lang="en-US" sz="18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23100" y="6478588"/>
            <a:ext cx="1905000" cy="352425"/>
          </a:xfrm>
        </p:spPr>
        <p:txBody>
          <a:bodyPr/>
          <a:lstStyle/>
          <a:p>
            <a:pPr defTabSz="914116">
              <a:defRPr/>
            </a:pPr>
            <a:fld id="{9BBDE440-63A8-A548-B173-1ECB1E8EEDBF}" type="slidenum">
              <a:rPr lang="en-US" sz="1100">
                <a:ea typeface="+mn-ea"/>
                <a:cs typeface="+mn-cs"/>
              </a:rPr>
              <a:pPr defTabSz="914116">
                <a:defRPr/>
              </a:pPr>
              <a:t>1</a:t>
            </a:fld>
            <a:endParaRPr lang="en-US" sz="1100" dirty="0">
              <a:ea typeface="+mn-ea"/>
              <a:cs typeface="+mn-cs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150937" y="449055"/>
            <a:ext cx="6842125" cy="8540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The GEOS-5 OGCM for ISI Prediction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554836" y="1303130"/>
            <a:ext cx="7767699" cy="5175458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18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  <a:cs typeface="ＭＳ Ｐゴシック" pitchFamily="34" charset="-128"/>
              </a:rPr>
              <a:t>MOM4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0000"/>
                </a:solidFill>
              </a:rPr>
              <a:t>Version 4.1 patch 1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0000"/>
                </a:solidFill>
              </a:rPr>
              <a:t>½°x½°x40 levels (1/4° equatorial refinement), </a:t>
            </a:r>
            <a:r>
              <a:rPr lang="en-US" sz="1800" dirty="0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tri-polar grid 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B-grid,  Z-coordinate (</a:t>
            </a:r>
            <a:r>
              <a:rPr lang="en-US" sz="1800" dirty="0" err="1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geopotential</a:t>
            </a:r>
            <a:r>
              <a:rPr lang="en-US" sz="1800" dirty="0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 option)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KPP vertical mixing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err="1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Laplacian</a:t>
            </a:r>
            <a:r>
              <a:rPr lang="en-US" sz="1800" dirty="0" smtClean="0">
                <a:solidFill>
                  <a:srgbClr val="000000"/>
                </a:solidFill>
                <a:ea typeface="ＭＳ Ｐゴシック" pitchFamily="34" charset="-128"/>
                <a:cs typeface="ＭＳ Ｐゴシック" pitchFamily="34" charset="-128"/>
              </a:rPr>
              <a:t> horizontal diffusion and friction</a:t>
            </a:r>
          </a:p>
          <a:p>
            <a:pPr>
              <a:buNone/>
            </a:pPr>
            <a:endParaRPr lang="en-US" sz="1800" dirty="0" smtClean="0">
              <a:solidFill>
                <a:srgbClr val="0000FF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  <a:cs typeface="ＭＳ Ｐゴシック" pitchFamily="34" charset="-128"/>
              </a:rPr>
              <a:t>Diurnal skin layer (Price)</a:t>
            </a:r>
          </a:p>
          <a:p>
            <a:endParaRPr lang="en-US" sz="1800" dirty="0" smtClean="0">
              <a:solidFill>
                <a:srgbClr val="0000FF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r>
              <a:rPr lang="en-US" sz="2400" dirty="0" smtClean="0">
                <a:solidFill>
                  <a:srgbClr val="0000FF"/>
                </a:solidFill>
                <a:ea typeface="ＭＳ Ｐゴシック" pitchFamily="34" charset="-128"/>
                <a:cs typeface="ＭＳ Ｐゴシック" pitchFamily="34" charset="-128"/>
              </a:rPr>
              <a:t>Sea ice:  CICE (Los Alamos National Laboratory)</a:t>
            </a:r>
          </a:p>
          <a:p>
            <a:pPr lvl="1"/>
            <a:endParaRPr lang="en-US" sz="1600" dirty="0" smtClean="0">
              <a:solidFill>
                <a:srgbClr val="000090"/>
              </a:solidFill>
            </a:endParaRPr>
          </a:p>
          <a:p>
            <a:pPr lvl="1">
              <a:buNone/>
            </a:pPr>
            <a:endParaRPr lang="en-US" sz="1800" dirty="0" smtClean="0">
              <a:solidFill>
                <a:srgbClr val="000090"/>
              </a:solidFill>
            </a:endParaRPr>
          </a:p>
          <a:p>
            <a:endParaRPr lang="en-US" sz="18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23100" y="6478588"/>
            <a:ext cx="1905000" cy="352425"/>
          </a:xfrm>
        </p:spPr>
        <p:txBody>
          <a:bodyPr/>
          <a:lstStyle/>
          <a:p>
            <a:pPr defTabSz="914116">
              <a:defRPr/>
            </a:pPr>
            <a:fld id="{9BBDE440-63A8-A548-B173-1ECB1E8EEDBF}" type="slidenum">
              <a:rPr lang="en-US" sz="1100">
                <a:ea typeface="+mn-ea"/>
                <a:cs typeface="+mn-cs"/>
              </a:rPr>
              <a:pPr defTabSz="914116">
                <a:defRPr/>
              </a:pPr>
              <a:t>2</a:t>
            </a:fld>
            <a:endParaRPr lang="en-US" sz="1100" dirty="0">
              <a:ea typeface="+mn-ea"/>
              <a:cs typeface="+mn-cs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1052513" y="3824288"/>
            <a:ext cx="7056437" cy="253841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>
            <a:prstTxWarp prst="textNoShape">
              <a:avLst/>
            </a:prstTxWarp>
          </a:bodyPr>
          <a:lstStyle/>
          <a:p>
            <a:pPr algn="ctr" defTabSz="414683">
              <a:defRPr/>
            </a:pPr>
            <a:r>
              <a:rPr lang="en-US" b="1" dirty="0">
                <a:solidFill>
                  <a:srgbClr val="000000"/>
                </a:solidFill>
                <a:latin typeface="Calibri" charset="0"/>
              </a:rPr>
              <a:t>Ocean Model on OGCM </a:t>
            </a:r>
            <a:r>
              <a:rPr lang="en-US" b="1" dirty="0" smtClean="0">
                <a:solidFill>
                  <a:srgbClr val="000000"/>
                </a:solidFill>
                <a:latin typeface="Calibri" charset="0"/>
              </a:rPr>
              <a:t>Grid</a:t>
            </a:r>
            <a:endParaRPr lang="en-US" dirty="0" smtClean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544513" y="2022475"/>
            <a:ext cx="7947025" cy="1184275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16200000" scaled="0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>
            <a:prstTxWarp prst="textNoShape">
              <a:avLst/>
            </a:prstTxWarp>
          </a:bodyPr>
          <a:lstStyle/>
          <a:p>
            <a:pPr algn="ctr" defTabSz="414683">
              <a:defRPr/>
            </a:pPr>
            <a:r>
              <a:rPr lang="en-US" b="1" dirty="0">
                <a:solidFill>
                  <a:prstClr val="black"/>
                </a:solidFill>
                <a:latin typeface="Calibri" charset="0"/>
              </a:rPr>
              <a:t>Air-sea Interface Component On Exchange </a:t>
            </a:r>
            <a:r>
              <a:rPr lang="en-US" b="1" dirty="0" smtClean="0">
                <a:solidFill>
                  <a:prstClr val="black"/>
                </a:solidFill>
                <a:latin typeface="Calibri" charset="0"/>
              </a:rPr>
              <a:t>grid</a:t>
            </a:r>
            <a:endParaRPr lang="en-US" b="1" dirty="0" smtClean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b="1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  <a:p>
            <a:pPr algn="ctr" defTabSz="414683">
              <a:defRPr/>
            </a:pPr>
            <a:endParaRPr lang="en-US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446213" y="762000"/>
            <a:ext cx="6278562" cy="66675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/>
          <a:lstStyle/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prstClr val="black"/>
                </a:solidFill>
              </a:rPr>
              <a:t>Atmospheric Model on AGCM Grid </a:t>
            </a:r>
          </a:p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b="1" dirty="0">
                <a:solidFill>
                  <a:prstClr val="black"/>
                </a:solidFill>
              </a:rPr>
              <a:t>GEOS-5)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265363" y="4214813"/>
            <a:ext cx="4748212" cy="525462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/>
          <a:lstStyle/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Ocean Dynamics and Transport</a:t>
            </a:r>
          </a:p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MOM4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163638" y="2395538"/>
            <a:ext cx="2132012" cy="62230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/>
          <a:lstStyle/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dirty="0">
                <a:solidFill>
                  <a:prstClr val="black"/>
                </a:solidFill>
                <a:latin typeface="Calibri"/>
              </a:rPr>
              <a:t>Diurnal  Layer</a:t>
            </a:r>
          </a:p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prstClr val="black"/>
                </a:solidFill>
                <a:latin typeface="Calibri"/>
              </a:rPr>
              <a:t>(Price)</a:t>
            </a:r>
          </a:p>
        </p:txBody>
      </p:sp>
      <p:sp>
        <p:nvSpPr>
          <p:cNvPr id="17415" name="TextBox 9"/>
          <p:cNvSpPr txBox="1">
            <a:spLocks noChangeArrowheads="1"/>
          </p:cNvSpPr>
          <p:nvPr/>
        </p:nvSpPr>
        <p:spPr bwMode="auto">
          <a:xfrm>
            <a:off x="5986463" y="1473200"/>
            <a:ext cx="2124075" cy="59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936" tIns="41469" rIns="82936" bIns="41469">
            <a:prstTxWarp prst="textNoShape">
              <a:avLst/>
            </a:prstTxWarp>
            <a:spAutoFit/>
          </a:bodyPr>
          <a:lstStyle/>
          <a:p>
            <a:pPr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Surface Wind, Air Temperature,</a:t>
            </a:r>
          </a:p>
          <a:p>
            <a:pPr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Specific Humidity,</a:t>
            </a:r>
          </a:p>
          <a:p>
            <a:pPr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other atmos constituents</a:t>
            </a:r>
          </a:p>
        </p:txBody>
      </p:sp>
      <p:sp>
        <p:nvSpPr>
          <p:cNvPr id="17416" name="TextBox 11"/>
          <p:cNvSpPr txBox="1">
            <a:spLocks noChangeArrowheads="1"/>
          </p:cNvSpPr>
          <p:nvPr/>
        </p:nvSpPr>
        <p:spPr bwMode="auto">
          <a:xfrm>
            <a:off x="1693863" y="1450975"/>
            <a:ext cx="13271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936" tIns="41469" rIns="82936" bIns="41469">
            <a:prstTxWarp prst="textNoShape">
              <a:avLst/>
            </a:prstTxWarp>
            <a:spAutoFit/>
          </a:bodyPr>
          <a:lstStyle/>
          <a:p>
            <a:pPr algn="r"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 Momentum, Heat,</a:t>
            </a:r>
          </a:p>
          <a:p>
            <a:pPr algn="r"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 Moisture fluxes,</a:t>
            </a:r>
          </a:p>
          <a:p>
            <a:pPr algn="r"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Gas Exchanges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6200000" flipH="1">
            <a:off x="3052762" y="1727201"/>
            <a:ext cx="600075" cy="0"/>
          </a:xfrm>
          <a:prstGeom prst="straightConnector1">
            <a:avLst/>
          </a:prstGeom>
          <a:ln>
            <a:solidFill>
              <a:srgbClr val="000000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5411787" y="1727201"/>
            <a:ext cx="600075" cy="0"/>
          </a:xfrm>
          <a:prstGeom prst="straightConnector1">
            <a:avLst/>
          </a:prstGeom>
          <a:ln>
            <a:solidFill>
              <a:srgbClr val="000000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 flipH="1" flipV="1">
            <a:off x="2153444" y="3709194"/>
            <a:ext cx="974725" cy="1587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TextBox 18"/>
          <p:cNvSpPr txBox="1">
            <a:spLocks noChangeArrowheads="1"/>
          </p:cNvSpPr>
          <p:nvPr/>
        </p:nvSpPr>
        <p:spPr bwMode="auto">
          <a:xfrm>
            <a:off x="2628900" y="3406775"/>
            <a:ext cx="25781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36" tIns="0" rIns="82936" bIns="0">
            <a:prstTxWarp prst="textNoShape">
              <a:avLst/>
            </a:prstTxWarp>
            <a:spAutoFit/>
          </a:bodyPr>
          <a:lstStyle/>
          <a:p>
            <a:pPr algn="ctr"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Mixed Layer Currents, Temperature, Salinity, etc </a:t>
            </a:r>
          </a:p>
        </p:txBody>
      </p:sp>
      <p:sp>
        <p:nvSpPr>
          <p:cNvPr id="17421" name="TextBox 23"/>
          <p:cNvSpPr txBox="1">
            <a:spLocks noChangeArrowheads="1"/>
          </p:cNvSpPr>
          <p:nvPr/>
        </p:nvSpPr>
        <p:spPr bwMode="auto">
          <a:xfrm>
            <a:off x="5883275" y="3276600"/>
            <a:ext cx="2608263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36" tIns="41469" rIns="82936" bIns="41469">
            <a:prstTxWarp prst="textNoShape">
              <a:avLst/>
            </a:prstTxWarp>
            <a:spAutoFit/>
          </a:bodyPr>
          <a:lstStyle/>
          <a:p>
            <a:pPr algn="ctr"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Momentum, Heat , Fresh Water, and Salt Fluxes</a:t>
            </a:r>
          </a:p>
          <a:p>
            <a:pPr algn="ctr" defTabSz="414338"/>
            <a:r>
              <a:rPr lang="en-US" sz="110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Gas Exchanges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rot="5400000">
            <a:off x="5562600" y="3522663"/>
            <a:ext cx="604837" cy="1588"/>
          </a:xfrm>
          <a:prstGeom prst="straightConnector1">
            <a:avLst/>
          </a:prstGeom>
          <a:ln>
            <a:solidFill>
              <a:srgbClr val="000000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>
            <a:spLocks noChangeArrowheads="1"/>
          </p:cNvSpPr>
          <p:nvPr/>
        </p:nvSpPr>
        <p:spPr bwMode="auto">
          <a:xfrm>
            <a:off x="5207000" y="2392363"/>
            <a:ext cx="2446338" cy="66675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/>
          <a:lstStyle/>
          <a:p>
            <a:pPr algn="ctr" defTabSz="414683">
              <a:defRPr/>
            </a:pPr>
            <a:r>
              <a:rPr lang="en-US" sz="1500" dirty="0">
                <a:solidFill>
                  <a:srgbClr val="000000"/>
                </a:solidFill>
                <a:latin typeface="Calibri" charset="0"/>
              </a:rPr>
              <a:t>Sea Ice</a:t>
            </a:r>
          </a:p>
          <a:p>
            <a:pPr algn="ctr" defTabSz="414683">
              <a:defRPr/>
            </a:pPr>
            <a:r>
              <a:rPr lang="en-US" sz="1500" dirty="0">
                <a:solidFill>
                  <a:srgbClr val="000000"/>
                </a:solidFill>
                <a:latin typeface="Calibri" charset="0"/>
              </a:rPr>
              <a:t>Thermodynamics</a:t>
            </a:r>
          </a:p>
          <a:p>
            <a:pPr algn="ctr" defTabSz="414683">
              <a:defRPr/>
            </a:pPr>
            <a:r>
              <a:rPr lang="en-US" sz="1500" dirty="0">
                <a:solidFill>
                  <a:srgbClr val="000000"/>
                </a:solidFill>
                <a:latin typeface="Calibri" charset="0"/>
              </a:rPr>
              <a:t>(</a:t>
            </a:r>
            <a:r>
              <a:rPr lang="en-US" sz="1500" b="1" dirty="0">
                <a:solidFill>
                  <a:srgbClr val="000000"/>
                </a:solidFill>
                <a:latin typeface="Calibri" charset="0"/>
              </a:rPr>
              <a:t>CICE</a:t>
            </a:r>
            <a:r>
              <a:rPr lang="en-US" sz="1500" dirty="0">
                <a:solidFill>
                  <a:srgbClr val="000000"/>
                </a:solidFill>
                <a:latin typeface="Calibri" charset="0"/>
              </a:rPr>
              <a:t>)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3482975" y="4848225"/>
            <a:ext cx="2170113" cy="66675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/>
          <a:lstStyle/>
          <a:p>
            <a:pPr algn="ctr" defTabSz="414683"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</a:rPr>
              <a:t>Sea Ice Dynamics</a:t>
            </a:r>
          </a:p>
          <a:p>
            <a:pPr algn="ctr" defTabSz="414683">
              <a:defRPr/>
            </a:pPr>
            <a:r>
              <a:rPr lang="en-US" dirty="0">
                <a:solidFill>
                  <a:srgbClr val="000000"/>
                </a:solidFill>
                <a:latin typeface="Calibri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alibri" charset="0"/>
              </a:rPr>
              <a:t>CICE</a:t>
            </a:r>
            <a:r>
              <a:rPr lang="en-US" dirty="0">
                <a:solidFill>
                  <a:srgbClr val="000000"/>
                </a:solidFill>
                <a:latin typeface="Calibri" charset="0"/>
              </a:rPr>
              <a:t>)</a:t>
            </a:r>
          </a:p>
        </p:txBody>
      </p:sp>
      <p:sp>
        <p:nvSpPr>
          <p:cNvPr id="17425" name="TextBox 11"/>
          <p:cNvSpPr txBox="1">
            <a:spLocks noChangeArrowheads="1"/>
          </p:cNvSpPr>
          <p:nvPr/>
        </p:nvSpPr>
        <p:spPr bwMode="auto">
          <a:xfrm>
            <a:off x="4025900" y="1481138"/>
            <a:ext cx="1123950" cy="590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936" tIns="41469" rIns="82936" bIns="41469">
            <a:prstTxWarp prst="textNoShape">
              <a:avLst/>
            </a:prstTxWarp>
            <a:spAutoFit/>
          </a:bodyPr>
          <a:lstStyle/>
          <a:p>
            <a:pPr algn="ctr" defTabSz="414338"/>
            <a:r>
              <a:rPr lang="en-US" sz="1100" i="1" dirty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All air-sea </a:t>
            </a:r>
          </a:p>
          <a:p>
            <a:pPr algn="ctr" defTabSz="414338"/>
            <a:r>
              <a:rPr lang="en-US" sz="1100" i="1" dirty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exchanges are</a:t>
            </a:r>
          </a:p>
          <a:p>
            <a:pPr algn="ctr" defTabSz="414338"/>
            <a:r>
              <a:rPr lang="en-US" sz="1100" i="1" dirty="0">
                <a:solidFill>
                  <a:srgbClr val="000000"/>
                </a:solidFill>
                <a:latin typeface="Helvetica" charset="0"/>
                <a:ea typeface="Helvetica" charset="0"/>
                <a:cs typeface="Helvetica" charset="0"/>
              </a:rPr>
              <a:t>implicit in time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2216150" y="5591175"/>
            <a:ext cx="2306638" cy="665163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/>
          <a:lstStyle/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Ocean Radiation</a:t>
            </a:r>
          </a:p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NOMB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794250" y="5600700"/>
            <a:ext cx="2308225" cy="66675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lIns="82936" tIns="41469" rIns="82936" bIns="41469" anchor="ctr"/>
          <a:lstStyle/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Ocean Biology</a:t>
            </a:r>
          </a:p>
          <a:p>
            <a:pPr algn="ctr" defTabSz="414683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(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NOMB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)</a:t>
            </a:r>
          </a:p>
        </p:txBody>
      </p:sp>
      <p:sp>
        <p:nvSpPr>
          <p:cNvPr id="17428" name="TextBox 63"/>
          <p:cNvSpPr txBox="1">
            <a:spLocks noChangeArrowheads="1"/>
          </p:cNvSpPr>
          <p:nvPr/>
        </p:nvSpPr>
        <p:spPr bwMode="auto">
          <a:xfrm>
            <a:off x="0" y="147638"/>
            <a:ext cx="9113838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36" tIns="41469" rIns="82936" bIns="41469">
            <a:prstTxWarp prst="textNoShape">
              <a:avLst/>
            </a:prstTxWarp>
            <a:spAutoFit/>
          </a:bodyPr>
          <a:lstStyle/>
          <a:p>
            <a:pPr algn="ctr" defTabSz="414338"/>
            <a:r>
              <a:rPr lang="en-US" sz="2500" b="1" dirty="0">
                <a:solidFill>
                  <a:srgbClr val="000000"/>
                </a:solidFill>
              </a:rPr>
              <a:t>GEOS-5 AOGCM Coupling Configuration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150937" y="237380"/>
            <a:ext cx="6842125" cy="854075"/>
          </a:xfrm>
        </p:spPr>
        <p:txBody>
          <a:bodyPr/>
          <a:lstStyle/>
          <a:p>
            <a:pPr>
              <a:defRPr/>
            </a:pPr>
            <a:r>
              <a:rPr 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GEOS ODAS-2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88119" y="841271"/>
            <a:ext cx="8767762" cy="517545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18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r>
              <a:rPr lang="en-US" sz="2400" dirty="0" smtClean="0">
                <a:solidFill>
                  <a:srgbClr val="000090"/>
                </a:solidFill>
                <a:ea typeface="ＭＳ Ｐゴシック" pitchFamily="34" charset="-128"/>
                <a:cs typeface="ＭＳ Ｐゴシック" pitchFamily="34" charset="-128"/>
              </a:rPr>
              <a:t>ODAS-2 can be run as an Ensemble Kalman Filter (EnKF) with state-dependent multivariate background error covariances or as an Ensemble OI (</a:t>
            </a:r>
            <a:r>
              <a:rPr lang="en-US" sz="2400" dirty="0" err="1" smtClean="0">
                <a:solidFill>
                  <a:srgbClr val="000090"/>
                </a:solidFill>
                <a:ea typeface="ＭＳ Ｐゴシック" pitchFamily="34" charset="-128"/>
                <a:cs typeface="ＭＳ Ｐゴシック" pitchFamily="34" charset="-128"/>
              </a:rPr>
              <a:t>EnOI</a:t>
            </a:r>
            <a:r>
              <a:rPr lang="en-US" sz="2400" dirty="0" smtClean="0">
                <a:solidFill>
                  <a:srgbClr val="000090"/>
                </a:solidFill>
                <a:ea typeface="ＭＳ Ｐゴシック" pitchFamily="34" charset="-128"/>
                <a:cs typeface="ＭＳ Ｐゴシック" pitchFamily="34" charset="-128"/>
              </a:rPr>
              <a:t>) with static multivariate background error covariances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8000"/>
                </a:solidFill>
                <a:ea typeface="ＭＳ Ｐゴシック" pitchFamily="34" charset="-128"/>
                <a:cs typeface="ＭＳ Ｐゴシック" pitchFamily="34" charset="-128"/>
              </a:rPr>
              <a:t>EnKF: 20 member ensemble</a:t>
            </a:r>
          </a:p>
          <a:p>
            <a:pPr lvl="1">
              <a:buFont typeface="Arial" pitchFamily="34" charset="0"/>
              <a:buChar char="•"/>
            </a:pPr>
            <a:r>
              <a:rPr lang="en-US" sz="1800" dirty="0" err="1" smtClean="0">
                <a:solidFill>
                  <a:srgbClr val="008000"/>
                </a:solidFill>
                <a:ea typeface="ＭＳ Ｐゴシック" pitchFamily="34" charset="-128"/>
                <a:cs typeface="ＭＳ Ｐゴシック" pitchFamily="34" charset="-128"/>
              </a:rPr>
              <a:t>EnOI</a:t>
            </a:r>
            <a:r>
              <a:rPr lang="en-US" sz="1800" dirty="0" smtClean="0">
                <a:solidFill>
                  <a:srgbClr val="008000"/>
                </a:solidFill>
                <a:ea typeface="ＭＳ Ｐゴシック" pitchFamily="34" charset="-128"/>
                <a:cs typeface="ＭＳ Ｐゴシック" pitchFamily="34" charset="-128"/>
              </a:rPr>
              <a:t>: Static ensemble of 20 </a:t>
            </a:r>
            <a:r>
              <a:rPr lang="en-US" sz="1800" dirty="0" err="1" smtClean="0">
                <a:solidFill>
                  <a:srgbClr val="008000"/>
                </a:solidFill>
                <a:ea typeface="ＭＳ Ｐゴシック" pitchFamily="34" charset="-128"/>
                <a:cs typeface="ＭＳ Ｐゴシック" pitchFamily="34" charset="-128"/>
              </a:rPr>
              <a:t>EOFs</a:t>
            </a:r>
            <a:r>
              <a:rPr lang="en-US" sz="1800" dirty="0" smtClean="0">
                <a:solidFill>
                  <a:srgbClr val="008000"/>
                </a:solidFill>
                <a:ea typeface="ＭＳ Ｐゴシック" pitchFamily="34" charset="-128"/>
                <a:cs typeface="ＭＳ Ｐゴシック" pitchFamily="34" charset="-128"/>
              </a:rPr>
              <a:t> from time series of differences in 20-member ensemble AOGCM simulation</a:t>
            </a:r>
          </a:p>
          <a:p>
            <a:pPr>
              <a:buFont typeface="Wingdings" pitchFamily="34" charset="2"/>
              <a:buNone/>
            </a:pPr>
            <a:endParaRPr lang="en-US" sz="18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  <a:p>
            <a:r>
              <a:rPr lang="en-US" sz="1800" dirty="0" smtClean="0"/>
              <a:t>T and S profiles (Buoys, </a:t>
            </a:r>
            <a:r>
              <a:rPr lang="en-US" sz="1800" dirty="0" err="1" smtClean="0"/>
              <a:t>XBTs</a:t>
            </a:r>
            <a:r>
              <a:rPr lang="en-US" sz="1800" dirty="0" smtClean="0"/>
              <a:t>, </a:t>
            </a:r>
            <a:r>
              <a:rPr lang="en-US" sz="1800" dirty="0" err="1" smtClean="0"/>
              <a:t>CTDs</a:t>
            </a:r>
            <a:r>
              <a:rPr lang="en-US" sz="1800" dirty="0" smtClean="0"/>
              <a:t>, Argo) and Reynolds SST are assimilated daily. </a:t>
            </a:r>
          </a:p>
          <a:p>
            <a:r>
              <a:rPr lang="en-US" sz="1800" dirty="0" smtClean="0"/>
              <a:t>XBT temperature profiles have been corrected according to </a:t>
            </a:r>
            <a:r>
              <a:rPr lang="en-US" sz="1800" dirty="0" err="1" smtClean="0"/>
              <a:t>Levitus</a:t>
            </a:r>
            <a:r>
              <a:rPr lang="en-US" sz="1800" dirty="0" smtClean="0"/>
              <a:t> et al. (2009).</a:t>
            </a:r>
          </a:p>
          <a:p>
            <a:r>
              <a:rPr lang="en-US" sz="1800" dirty="0" smtClean="0"/>
              <a:t>For </a:t>
            </a:r>
            <a:r>
              <a:rPr lang="en-US" sz="1800" dirty="0" err="1" smtClean="0"/>
              <a:t>XBTs</a:t>
            </a:r>
            <a:r>
              <a:rPr lang="en-US" sz="1800" dirty="0" smtClean="0"/>
              <a:t> and Buoys, synthetic salinity profiles are generated from </a:t>
            </a:r>
            <a:r>
              <a:rPr lang="en-US" sz="1800" dirty="0" err="1" smtClean="0"/>
              <a:t>Levitus</a:t>
            </a:r>
            <a:r>
              <a:rPr lang="en-US" sz="1800" dirty="0" smtClean="0"/>
              <a:t> &amp; Boyer S(T) </a:t>
            </a:r>
          </a:p>
          <a:p>
            <a:r>
              <a:rPr lang="en-US" sz="1800" dirty="0" smtClean="0"/>
              <a:t>Climatological SSS is assimilated to compensate for errors in fresh water input from precipitation and river runoff.</a:t>
            </a:r>
          </a:p>
          <a:p>
            <a:r>
              <a:rPr lang="en-US" sz="1800" dirty="0" smtClean="0"/>
              <a:t>Sea Level Anomalies are from AVISO.</a:t>
            </a:r>
          </a:p>
          <a:p>
            <a:r>
              <a:rPr lang="en-US" sz="1800" dirty="0" smtClean="0"/>
              <a:t>Analysis is also constrained by </a:t>
            </a:r>
            <a:r>
              <a:rPr lang="en-US" sz="1800" dirty="0" err="1" smtClean="0"/>
              <a:t>Levitus</a:t>
            </a:r>
            <a:r>
              <a:rPr lang="en-US" sz="1800" dirty="0" smtClean="0"/>
              <a:t> &amp; Boyer climatological temperature and salinity – correction made to first guess fields before assimilation of other real-time data – </a:t>
            </a:r>
            <a:r>
              <a:rPr lang="en-US" sz="1800" dirty="0" err="1" smtClean="0"/>
              <a:t>univariate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Multivariate covariances correct T and S, not currents.</a:t>
            </a:r>
          </a:p>
          <a:p>
            <a:endParaRPr lang="en-US" sz="1600" dirty="0" smtClean="0">
              <a:solidFill>
                <a:srgbClr val="000090"/>
              </a:solidFill>
            </a:endParaRPr>
          </a:p>
          <a:p>
            <a:pPr lvl="1">
              <a:buFontTx/>
              <a:buChar char="•"/>
            </a:pPr>
            <a:endParaRPr lang="en-US" sz="1800" dirty="0" smtClean="0">
              <a:solidFill>
                <a:srgbClr val="000090"/>
              </a:solidFill>
            </a:endParaRPr>
          </a:p>
          <a:p>
            <a:endParaRPr lang="en-US" sz="1800" dirty="0" smtClean="0">
              <a:solidFill>
                <a:srgbClr val="000090"/>
              </a:solidFill>
              <a:ea typeface="ＭＳ Ｐゴシック" pitchFamily="34" charset="-128"/>
              <a:cs typeface="ＭＳ Ｐゴシック" pitchFamily="34" charset="-128"/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7023100" y="6478588"/>
            <a:ext cx="1905000" cy="352425"/>
          </a:xfrm>
        </p:spPr>
        <p:txBody>
          <a:bodyPr/>
          <a:lstStyle/>
          <a:p>
            <a:pPr defTabSz="914116">
              <a:defRPr/>
            </a:pPr>
            <a:fld id="{9BBDE440-63A8-A548-B173-1ECB1E8EEDBF}" type="slidenum">
              <a:rPr lang="en-US" sz="1100">
                <a:ea typeface="+mn-ea"/>
                <a:cs typeface="+mn-cs"/>
              </a:rPr>
              <a:pPr defTabSz="914116">
                <a:defRPr/>
              </a:pPr>
              <a:t>4</a:t>
            </a:fld>
            <a:endParaRPr lang="en-US" sz="1100" dirty="0">
              <a:ea typeface="+mn-ea"/>
              <a:cs typeface="+mn-cs"/>
            </a:endParaRPr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077211" y="6358334"/>
            <a:ext cx="1905000" cy="4572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898989"/>
              </a:solidFill>
              <a:ea typeface="ＭＳ Ｐゴシック" charset="-128"/>
              <a:cs typeface="ＭＳ Ｐゴシック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A509FB4-97E4-6B4E-B7D0-145EE4A08FD2}" type="slidenum">
              <a:rPr lang="en-US">
                <a:solidFill>
                  <a:srgbClr val="898989"/>
                </a:solidFill>
                <a:ea typeface="ＭＳ Ｐゴシック" charset="-128"/>
                <a:cs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>
              <a:solidFill>
                <a:srgbClr val="898989"/>
              </a:solidFill>
              <a:ea typeface="ＭＳ Ｐゴシック" charset="-128"/>
              <a:cs typeface="ＭＳ Ｐゴシック" charset="-128"/>
            </a:endParaRPr>
          </a:p>
        </p:txBody>
      </p:sp>
      <p:sp>
        <p:nvSpPr>
          <p:cNvPr id="20483" name="Text Box 83"/>
          <p:cNvSpPr txBox="1">
            <a:spLocks noChangeArrowheads="1"/>
          </p:cNvSpPr>
          <p:nvPr/>
        </p:nvSpPr>
        <p:spPr bwMode="auto">
          <a:xfrm>
            <a:off x="547688" y="443844"/>
            <a:ext cx="8034337" cy="12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0" tIns="45706" rIns="91410" bIns="45706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dirty="0">
                <a:solidFill>
                  <a:srgbClr val="000000"/>
                </a:solidFill>
              </a:rPr>
              <a:t>GEOS-5 Coupled analysis cycle </a:t>
            </a:r>
          </a:p>
          <a:p>
            <a:pPr algn="ctr" eaLnBrk="0" hangingPunct="0"/>
            <a:r>
              <a:rPr lang="en-US" sz="2400" b="1" dirty="0">
                <a:solidFill>
                  <a:srgbClr val="000000"/>
                </a:solidFill>
              </a:rPr>
              <a:t>for </a:t>
            </a:r>
          </a:p>
          <a:p>
            <a:pPr algn="ctr" eaLnBrk="0" hangingPunct="0"/>
            <a:r>
              <a:rPr lang="en-US" sz="2400" b="1" dirty="0">
                <a:solidFill>
                  <a:srgbClr val="000000"/>
                </a:solidFill>
              </a:rPr>
              <a:t>Initialization of ISI Predictions</a:t>
            </a:r>
          </a:p>
        </p:txBody>
      </p:sp>
      <p:grpSp>
        <p:nvGrpSpPr>
          <p:cNvPr id="2" name="Group 168"/>
          <p:cNvGrpSpPr>
            <a:grpSpLocks/>
          </p:cNvGrpSpPr>
          <p:nvPr/>
        </p:nvGrpSpPr>
        <p:grpSpPr bwMode="auto">
          <a:xfrm>
            <a:off x="993775" y="2124472"/>
            <a:ext cx="7173913" cy="2990577"/>
            <a:chOff x="189101" y="1454826"/>
            <a:chExt cx="7173651" cy="2991106"/>
          </a:xfrm>
        </p:grpSpPr>
        <p:sp>
          <p:nvSpPr>
            <p:cNvPr id="20486" name="Text Box 40"/>
            <p:cNvSpPr txBox="1">
              <a:spLocks noChangeArrowheads="1"/>
            </p:cNvSpPr>
            <p:nvPr/>
          </p:nvSpPr>
          <p:spPr bwMode="auto">
            <a:xfrm>
              <a:off x="1707221" y="1454826"/>
              <a:ext cx="1854711" cy="120031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>
                  <a:solidFill>
                    <a:srgbClr val="000000"/>
                  </a:solidFill>
                </a:rPr>
                <a:t>Relaxation to atmospheric states from MERRA (6-hourly)</a:t>
              </a:r>
            </a:p>
            <a:p>
              <a:pPr algn="ctr"/>
              <a:r>
                <a:rPr lang="en-US" sz="1200">
                  <a:solidFill>
                    <a:srgbClr val="000000"/>
                  </a:solidFill>
                </a:rPr>
                <a:t>Precipitation corrected to GPCPv2.1 pentads (for LSM initialization)</a:t>
              </a:r>
            </a:p>
          </p:txBody>
        </p:sp>
        <p:sp>
          <p:nvSpPr>
            <p:cNvPr id="20487" name="Text Box 76"/>
            <p:cNvSpPr txBox="1">
              <a:spLocks noChangeArrowheads="1"/>
            </p:cNvSpPr>
            <p:nvPr/>
          </p:nvSpPr>
          <p:spPr bwMode="auto">
            <a:xfrm>
              <a:off x="4152756" y="1601113"/>
              <a:ext cx="2464747" cy="446326"/>
            </a:xfrm>
            <a:prstGeom prst="rect">
              <a:avLst/>
            </a:prstGeom>
            <a:noFill/>
            <a:ln w="9525">
              <a:solidFill>
                <a:srgbClr val="009999"/>
              </a:solidFill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100">
                  <a:solidFill>
                    <a:srgbClr val="000000"/>
                  </a:solidFill>
                </a:rPr>
                <a:t>Initialized States for </a:t>
              </a:r>
            </a:p>
            <a:p>
              <a:pPr algn="ctr" eaLnBrk="0" hangingPunct="0"/>
              <a:r>
                <a:rPr lang="en-US" sz="1100">
                  <a:solidFill>
                    <a:srgbClr val="000000"/>
                  </a:solidFill>
                </a:rPr>
                <a:t>unconstrained coupled forecasts</a:t>
              </a:r>
            </a:p>
          </p:txBody>
        </p:sp>
        <p:sp>
          <p:nvSpPr>
            <p:cNvPr id="20488" name="Text Box 76"/>
            <p:cNvSpPr txBox="1">
              <a:spLocks noChangeArrowheads="1"/>
            </p:cNvSpPr>
            <p:nvPr/>
          </p:nvSpPr>
          <p:spPr bwMode="auto">
            <a:xfrm>
              <a:off x="189101" y="2976515"/>
              <a:ext cx="1431037" cy="9234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b="1">
                  <a:solidFill>
                    <a:srgbClr val="00CE2C"/>
                  </a:solidFill>
                </a:rPr>
                <a:t>GEOS-5 AOGCM integration</a:t>
              </a:r>
            </a:p>
          </p:txBody>
        </p:sp>
        <p:sp>
          <p:nvSpPr>
            <p:cNvPr id="20489" name="Text Box 76"/>
            <p:cNvSpPr txBox="1">
              <a:spLocks noChangeArrowheads="1"/>
            </p:cNvSpPr>
            <p:nvPr/>
          </p:nvSpPr>
          <p:spPr bwMode="auto">
            <a:xfrm>
              <a:off x="1620138" y="2997113"/>
              <a:ext cx="620660" cy="261640"/>
            </a:xfrm>
            <a:prstGeom prst="rect">
              <a:avLst/>
            </a:prstGeom>
            <a:solidFill>
              <a:srgbClr val="97FEF8"/>
            </a:solidFill>
            <a:ln w="9525">
              <a:solidFill>
                <a:srgbClr val="009999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100">
                  <a:solidFill>
                    <a:srgbClr val="000000"/>
                  </a:solidFill>
                </a:rPr>
                <a:t>AGCM</a:t>
              </a:r>
            </a:p>
          </p:txBody>
        </p:sp>
        <p:sp>
          <p:nvSpPr>
            <p:cNvPr id="20490" name="Text Box 76"/>
            <p:cNvSpPr txBox="1">
              <a:spLocks noChangeArrowheads="1"/>
            </p:cNvSpPr>
            <p:nvPr/>
          </p:nvSpPr>
          <p:spPr bwMode="auto">
            <a:xfrm>
              <a:off x="1659354" y="3438308"/>
              <a:ext cx="623471" cy="261640"/>
            </a:xfrm>
            <a:prstGeom prst="rect">
              <a:avLst/>
            </a:prstGeom>
            <a:solidFill>
              <a:srgbClr val="4297AB"/>
            </a:solidFill>
            <a:ln w="9525">
              <a:solidFill>
                <a:srgbClr val="009999"/>
              </a:solidFill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r>
                <a:rPr lang="en-US" sz="1100">
                  <a:solidFill>
                    <a:srgbClr val="000000"/>
                  </a:solidFill>
                </a:rPr>
                <a:t>OGCM</a:t>
              </a:r>
            </a:p>
          </p:txBody>
        </p:sp>
        <p:grpSp>
          <p:nvGrpSpPr>
            <p:cNvPr id="3" name="Group 132"/>
            <p:cNvGrpSpPr>
              <a:grpSpLocks/>
            </p:cNvGrpSpPr>
            <p:nvPr/>
          </p:nvGrpSpPr>
          <p:grpSpPr bwMode="auto">
            <a:xfrm>
              <a:off x="2263096" y="2167739"/>
              <a:ext cx="2970087" cy="2278193"/>
              <a:chOff x="2263096" y="2167739"/>
              <a:chExt cx="2970087" cy="2278193"/>
            </a:xfrm>
          </p:grpSpPr>
          <p:sp>
            <p:nvSpPr>
              <p:cNvPr id="20512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2593303" y="2912443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13" name="Line 65"/>
              <p:cNvSpPr>
                <a:spLocks noChangeAspect="1" noChangeShapeType="1"/>
              </p:cNvSpPr>
              <p:nvPr/>
            </p:nvSpPr>
            <p:spPr bwMode="auto">
              <a:xfrm flipH="1">
                <a:off x="2302790" y="2912443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14" name="Line 71"/>
              <p:cNvSpPr>
                <a:spLocks noChangeAspect="1" noChangeShapeType="1"/>
              </p:cNvSpPr>
              <p:nvPr/>
            </p:nvSpPr>
            <p:spPr bwMode="auto">
              <a:xfrm>
                <a:off x="2263103" y="3348519"/>
                <a:ext cx="838200" cy="0"/>
              </a:xfrm>
              <a:prstGeom prst="line">
                <a:avLst/>
              </a:prstGeom>
              <a:noFill/>
              <a:ln w="38100">
                <a:solidFill>
                  <a:srgbClr val="00C602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634" name="AutoShape 42"/>
              <p:cNvSpPr>
                <a:spLocks noChangeArrowheads="1"/>
              </p:cNvSpPr>
              <p:nvPr/>
            </p:nvSpPr>
            <p:spPr bwMode="auto">
              <a:xfrm>
                <a:off x="3000461" y="3807917"/>
                <a:ext cx="152394" cy="112732"/>
              </a:xfrm>
              <a:prstGeom prst="star5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defTabSz="457059">
                  <a:defRPr/>
                </a:pPr>
                <a:endParaRPr lang="en-US">
                  <a:solidFill>
                    <a:prstClr val="black"/>
                  </a:solidFill>
                  <a:latin typeface="Arial" pitchFamily="-111" charset="0"/>
                  <a:ea typeface="ＭＳ Ｐゴシック" pitchFamily="-111" charset="-128"/>
                  <a:cs typeface="ＭＳ Ｐゴシック" pitchFamily="-111" charset="-128"/>
                </a:endParaRPr>
              </a:p>
            </p:txBody>
          </p:sp>
          <p:sp>
            <p:nvSpPr>
              <p:cNvPr id="20516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2263102" y="2832075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7" name="Text Box 82"/>
              <p:cNvSpPr txBox="1">
                <a:spLocks noChangeArrowheads="1"/>
              </p:cNvSpPr>
              <p:nvPr/>
            </p:nvSpPr>
            <p:spPr bwMode="auto">
              <a:xfrm>
                <a:off x="2567966" y="4014969"/>
                <a:ext cx="1028328" cy="430963"/>
              </a:xfrm>
              <a:prstGeom prst="rect">
                <a:avLst/>
              </a:prstGeom>
              <a:solidFill>
                <a:srgbClr val="2C26F9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pPr algn="ctr" eaLnBrk="0" hangingPunct="0"/>
                <a:r>
                  <a:rPr lang="en-US" sz="1100" dirty="0">
                    <a:solidFill>
                      <a:schemeClr val="bg1"/>
                    </a:solidFill>
                  </a:rPr>
                  <a:t>Ocean </a:t>
                </a:r>
                <a:r>
                  <a:rPr lang="en-US" sz="1100" dirty="0" smtClean="0">
                    <a:solidFill>
                      <a:schemeClr val="bg1"/>
                    </a:solidFill>
                  </a:rPr>
                  <a:t>analysis</a:t>
                </a:r>
              </a:p>
              <a:p>
                <a:pPr algn="ctr" eaLnBrk="0" hangingPunct="0"/>
                <a:r>
                  <a:rPr lang="en-US" sz="1100" dirty="0" smtClean="0">
                    <a:solidFill>
                      <a:schemeClr val="bg1"/>
                    </a:solidFill>
                  </a:rPr>
                  <a:t> EnKF &amp; </a:t>
                </a:r>
                <a:r>
                  <a:rPr lang="en-US" sz="1100" dirty="0" err="1" smtClean="0">
                    <a:solidFill>
                      <a:schemeClr val="bg1"/>
                    </a:solidFill>
                  </a:rPr>
                  <a:t>EnOI</a:t>
                </a:r>
                <a:endParaRPr lang="en-US" sz="11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518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2567902" y="2832075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9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2813445" y="2832063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20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3043094" y="2831268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21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2838840" y="2903970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22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3075910" y="2903964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23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3079085" y="3463715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24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3660139" y="2912437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25" name="Line 65"/>
              <p:cNvSpPr>
                <a:spLocks noChangeAspect="1" noChangeShapeType="1"/>
              </p:cNvSpPr>
              <p:nvPr/>
            </p:nvSpPr>
            <p:spPr bwMode="auto">
              <a:xfrm flipH="1">
                <a:off x="3369626" y="2912437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26" name="Line 71"/>
              <p:cNvSpPr>
                <a:spLocks noChangeAspect="1" noChangeShapeType="1"/>
              </p:cNvSpPr>
              <p:nvPr/>
            </p:nvSpPr>
            <p:spPr bwMode="auto">
              <a:xfrm>
                <a:off x="3255561" y="3356980"/>
                <a:ext cx="912578" cy="0"/>
              </a:xfrm>
              <a:prstGeom prst="line">
                <a:avLst/>
              </a:prstGeom>
              <a:noFill/>
              <a:ln w="38100">
                <a:solidFill>
                  <a:srgbClr val="00C602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AutoShape 42"/>
              <p:cNvSpPr>
                <a:spLocks noChangeArrowheads="1"/>
              </p:cNvSpPr>
              <p:nvPr/>
            </p:nvSpPr>
            <p:spPr bwMode="auto">
              <a:xfrm>
                <a:off x="4067222" y="3790451"/>
                <a:ext cx="152394" cy="112733"/>
              </a:xfrm>
              <a:prstGeom prst="star5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defTabSz="457059">
                  <a:defRPr/>
                </a:pPr>
                <a:endParaRPr lang="en-US">
                  <a:solidFill>
                    <a:prstClr val="black"/>
                  </a:solidFill>
                  <a:latin typeface="Arial" pitchFamily="-111" charset="0"/>
                  <a:ea typeface="ＭＳ Ｐゴシック" pitchFamily="-111" charset="-128"/>
                  <a:cs typeface="ＭＳ Ｐゴシック" pitchFamily="-111" charset="-128"/>
                </a:endParaRPr>
              </a:p>
            </p:txBody>
          </p:sp>
          <p:sp>
            <p:nvSpPr>
              <p:cNvPr id="20528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3329938" y="2832069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29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3634738" y="2832069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30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3880281" y="2832057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31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4109930" y="2831262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32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3905676" y="2903964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33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4142746" y="2903958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34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4145921" y="3455242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114" name="Straight Arrow Connector 113"/>
              <p:cNvCxnSpPr/>
              <p:nvPr/>
            </p:nvCxnSpPr>
            <p:spPr>
              <a:xfrm rot="5400000" flipH="1" flipV="1">
                <a:off x="3021858" y="3518163"/>
                <a:ext cx="314381" cy="1539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/>
              <p:nvPr/>
            </p:nvCxnSpPr>
            <p:spPr>
              <a:xfrm rot="5400000" flipH="1" flipV="1">
                <a:off x="4139417" y="3518163"/>
                <a:ext cx="314381" cy="15398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37" name="Line 71"/>
              <p:cNvSpPr>
                <a:spLocks noChangeAspect="1" noChangeShapeType="1"/>
              </p:cNvSpPr>
              <p:nvPr/>
            </p:nvSpPr>
            <p:spPr bwMode="auto">
              <a:xfrm>
                <a:off x="2263097" y="3450117"/>
                <a:ext cx="838200" cy="0"/>
              </a:xfrm>
              <a:prstGeom prst="line">
                <a:avLst/>
              </a:prstGeom>
              <a:noFill/>
              <a:ln w="38100">
                <a:solidFill>
                  <a:srgbClr val="31859C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Line 71"/>
              <p:cNvSpPr>
                <a:spLocks noChangeAspect="1" noChangeShapeType="1"/>
              </p:cNvSpPr>
              <p:nvPr/>
            </p:nvSpPr>
            <p:spPr bwMode="auto">
              <a:xfrm>
                <a:off x="3262389" y="3450666"/>
                <a:ext cx="885793" cy="0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75000"/>
                  </a:schemeClr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defTabSz="457059">
                  <a:defRPr/>
                </a:pPr>
                <a:endParaRPr lang="en-US" dirty="0">
                  <a:solidFill>
                    <a:prstClr val="black"/>
                  </a:solidFill>
                  <a:latin typeface="Arial" charset="0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0539" name="Line 71"/>
              <p:cNvSpPr>
                <a:spLocks noChangeAspect="1" noChangeShapeType="1"/>
              </p:cNvSpPr>
              <p:nvPr/>
            </p:nvSpPr>
            <p:spPr bwMode="auto">
              <a:xfrm>
                <a:off x="2263096" y="3246909"/>
                <a:ext cx="1913509" cy="0"/>
              </a:xfrm>
              <a:prstGeom prst="line">
                <a:avLst/>
              </a:prstGeom>
              <a:noFill/>
              <a:ln w="38100">
                <a:solidFill>
                  <a:srgbClr val="85FFF7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129" name="Straight Arrow Connector 128"/>
              <p:cNvCxnSpPr/>
              <p:nvPr/>
            </p:nvCxnSpPr>
            <p:spPr>
              <a:xfrm rot="5400000" flipH="1" flipV="1">
                <a:off x="3776593" y="2763157"/>
                <a:ext cx="1190836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41" name="TextBox 129"/>
              <p:cNvSpPr txBox="1">
                <a:spLocks noChangeArrowheads="1"/>
              </p:cNvSpPr>
              <p:nvPr/>
            </p:nvSpPr>
            <p:spPr bwMode="auto">
              <a:xfrm>
                <a:off x="4572000" y="2997113"/>
                <a:ext cx="43258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>
                    <a:latin typeface="Calibri" pitchFamily="34" charset="0"/>
                  </a:rPr>
                  <a:t>…</a:t>
                </a:r>
              </a:p>
            </p:txBody>
          </p:sp>
          <p:sp>
            <p:nvSpPr>
              <p:cNvPr id="20542" name="TextBox 130"/>
              <p:cNvSpPr txBox="1">
                <a:spLocks noChangeArrowheads="1"/>
              </p:cNvSpPr>
              <p:nvPr/>
            </p:nvSpPr>
            <p:spPr bwMode="auto">
              <a:xfrm>
                <a:off x="4800603" y="2997107"/>
                <a:ext cx="43258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>
                    <a:latin typeface="Calibri" pitchFamily="34" charset="0"/>
                  </a:rPr>
                  <a:t>…</a:t>
                </a:r>
              </a:p>
            </p:txBody>
          </p:sp>
        </p:grpSp>
        <p:grpSp>
          <p:nvGrpSpPr>
            <p:cNvPr id="4" name="Group 165"/>
            <p:cNvGrpSpPr>
              <a:grpSpLocks/>
            </p:cNvGrpSpPr>
            <p:nvPr/>
          </p:nvGrpSpPr>
          <p:grpSpPr bwMode="auto">
            <a:xfrm>
              <a:off x="5130331" y="2167468"/>
              <a:ext cx="2232421" cy="1746243"/>
              <a:chOff x="6104036" y="2311407"/>
              <a:chExt cx="2232421" cy="1746243"/>
            </a:xfrm>
          </p:grpSpPr>
          <p:sp>
            <p:nvSpPr>
              <p:cNvPr id="138" name="AutoShape 42"/>
              <p:cNvSpPr>
                <a:spLocks noChangeArrowheads="1"/>
              </p:cNvSpPr>
              <p:nvPr/>
            </p:nvSpPr>
            <p:spPr bwMode="auto">
              <a:xfrm>
                <a:off x="6104514" y="3945505"/>
                <a:ext cx="152394" cy="112732"/>
              </a:xfrm>
              <a:prstGeom prst="star5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defTabSz="457059">
                  <a:defRPr/>
                </a:pPr>
                <a:endParaRPr lang="en-US">
                  <a:solidFill>
                    <a:prstClr val="black"/>
                  </a:solidFill>
                  <a:latin typeface="Arial" pitchFamily="-111" charset="0"/>
                  <a:ea typeface="ＭＳ Ｐゴシック" pitchFamily="-111" charset="-128"/>
                  <a:cs typeface="ＭＳ Ｐゴシック" pitchFamily="-111" charset="-128"/>
                </a:endParaRPr>
              </a:p>
            </p:txBody>
          </p:sp>
          <p:sp>
            <p:nvSpPr>
              <p:cNvPr id="20494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6763413" y="3049864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5" name="Line 65"/>
              <p:cNvSpPr>
                <a:spLocks noChangeAspect="1" noChangeShapeType="1"/>
              </p:cNvSpPr>
              <p:nvPr/>
            </p:nvSpPr>
            <p:spPr bwMode="auto">
              <a:xfrm flipH="1">
                <a:off x="6472900" y="3049864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96" name="Line 71"/>
              <p:cNvSpPr>
                <a:spLocks noChangeAspect="1" noChangeShapeType="1"/>
              </p:cNvSpPr>
              <p:nvPr/>
            </p:nvSpPr>
            <p:spPr bwMode="auto">
              <a:xfrm>
                <a:off x="6358835" y="3494407"/>
                <a:ext cx="912578" cy="0"/>
              </a:xfrm>
              <a:prstGeom prst="line">
                <a:avLst/>
              </a:prstGeom>
              <a:noFill/>
              <a:ln w="38100">
                <a:solidFill>
                  <a:srgbClr val="00C602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AutoShape 42"/>
              <p:cNvSpPr>
                <a:spLocks noChangeArrowheads="1"/>
              </p:cNvSpPr>
              <p:nvPr/>
            </p:nvSpPr>
            <p:spPr bwMode="auto">
              <a:xfrm>
                <a:off x="7171275" y="3928039"/>
                <a:ext cx="152394" cy="112733"/>
              </a:xfrm>
              <a:prstGeom prst="star5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defTabSz="457059">
                  <a:defRPr/>
                </a:pPr>
                <a:endParaRPr lang="en-US">
                  <a:solidFill>
                    <a:prstClr val="black"/>
                  </a:solidFill>
                  <a:latin typeface="Arial" pitchFamily="-111" charset="0"/>
                  <a:ea typeface="ＭＳ Ｐゴシック" pitchFamily="-111" charset="-128"/>
                  <a:cs typeface="ＭＳ Ｐゴシック" pitchFamily="-111" charset="-128"/>
                </a:endParaRPr>
              </a:p>
            </p:txBody>
          </p:sp>
          <p:sp>
            <p:nvSpPr>
              <p:cNvPr id="20498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6433212" y="2969496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499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6738012" y="2969496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00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6983555" y="2969484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01" name="Rectangle 81"/>
              <p:cNvSpPr>
                <a:spLocks noChangeAspect="1" noChangeArrowheads="1"/>
              </p:cNvSpPr>
              <p:nvPr/>
            </p:nvSpPr>
            <p:spPr bwMode="auto">
              <a:xfrm>
                <a:off x="7213204" y="2968689"/>
                <a:ext cx="66675" cy="48457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0502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7008950" y="3041391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03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7246020" y="3041385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04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7249195" y="3592669"/>
                <a:ext cx="3175" cy="3131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158" name="Straight Arrow Connector 157"/>
              <p:cNvCxnSpPr/>
              <p:nvPr/>
            </p:nvCxnSpPr>
            <p:spPr>
              <a:xfrm rot="5400000" flipH="1" flipV="1">
                <a:off x="6125117" y="3656545"/>
                <a:ext cx="314381" cy="1523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Arrow Connector 158"/>
              <p:cNvCxnSpPr/>
              <p:nvPr/>
            </p:nvCxnSpPr>
            <p:spPr>
              <a:xfrm rot="5400000" flipH="1" flipV="1">
                <a:off x="7242676" y="3656545"/>
                <a:ext cx="314381" cy="1523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 w="med" len="lg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1" name="Line 71"/>
              <p:cNvSpPr>
                <a:spLocks noChangeAspect="1" noChangeShapeType="1"/>
              </p:cNvSpPr>
              <p:nvPr/>
            </p:nvSpPr>
            <p:spPr bwMode="auto">
              <a:xfrm>
                <a:off x="6366441" y="3588254"/>
                <a:ext cx="885792" cy="0"/>
              </a:xfrm>
              <a:prstGeom prst="line">
                <a:avLst/>
              </a:prstGeom>
              <a:noFill/>
              <a:ln w="38100">
                <a:solidFill>
                  <a:schemeClr val="accent5">
                    <a:lumMod val="75000"/>
                  </a:schemeClr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pPr defTabSz="457059">
                  <a:defRPr/>
                </a:pPr>
                <a:endParaRPr lang="en-US" dirty="0">
                  <a:solidFill>
                    <a:prstClr val="black"/>
                  </a:solidFill>
                  <a:latin typeface="Arial" charset="0"/>
                  <a:ea typeface="ＭＳ Ｐゴシック" charset="-128"/>
                  <a:cs typeface="ＭＳ Ｐゴシック" charset="-128"/>
                </a:endParaRPr>
              </a:p>
            </p:txBody>
          </p:sp>
          <p:sp>
            <p:nvSpPr>
              <p:cNvPr id="20508" name="Line 71"/>
              <p:cNvSpPr>
                <a:spLocks noChangeAspect="1" noChangeShapeType="1"/>
              </p:cNvSpPr>
              <p:nvPr/>
            </p:nvSpPr>
            <p:spPr bwMode="auto">
              <a:xfrm>
                <a:off x="6146368" y="3384336"/>
                <a:ext cx="1133511" cy="0"/>
              </a:xfrm>
              <a:prstGeom prst="line">
                <a:avLst/>
              </a:prstGeom>
              <a:noFill/>
              <a:ln w="38100">
                <a:solidFill>
                  <a:srgbClr val="85FFF7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163" name="Straight Arrow Connector 162"/>
              <p:cNvCxnSpPr/>
              <p:nvPr/>
            </p:nvCxnSpPr>
            <p:spPr>
              <a:xfrm rot="5400000" flipH="1" flipV="1">
                <a:off x="6883821" y="2903921"/>
                <a:ext cx="1184485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10" name="TextBox 163"/>
              <p:cNvSpPr txBox="1">
                <a:spLocks noChangeArrowheads="1"/>
              </p:cNvSpPr>
              <p:nvPr/>
            </p:nvSpPr>
            <p:spPr bwMode="auto">
              <a:xfrm>
                <a:off x="7675274" y="3134540"/>
                <a:ext cx="43258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>
                    <a:latin typeface="Calibri" pitchFamily="34" charset="0"/>
                  </a:rPr>
                  <a:t>…</a:t>
                </a:r>
              </a:p>
            </p:txBody>
          </p:sp>
          <p:sp>
            <p:nvSpPr>
              <p:cNvPr id="20511" name="TextBox 164"/>
              <p:cNvSpPr txBox="1">
                <a:spLocks noChangeArrowheads="1"/>
              </p:cNvSpPr>
              <p:nvPr/>
            </p:nvSpPr>
            <p:spPr bwMode="auto">
              <a:xfrm>
                <a:off x="7903877" y="3134534"/>
                <a:ext cx="432580" cy="523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>
                    <a:latin typeface="Calibri" pitchFamily="34" charset="0"/>
                  </a:rPr>
                  <a:t>…</a:t>
                </a:r>
              </a:p>
            </p:txBody>
          </p:sp>
        </p:grpSp>
      </p:grpSp>
      <p:sp>
        <p:nvSpPr>
          <p:cNvPr id="62" name="Text Box 40"/>
          <p:cNvSpPr txBox="1">
            <a:spLocks noChangeArrowheads="1"/>
          </p:cNvSpPr>
          <p:nvPr/>
        </p:nvSpPr>
        <p:spPr bwMode="auto">
          <a:xfrm>
            <a:off x="2511425" y="2745184"/>
            <a:ext cx="1855788" cy="6477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defRPr/>
            </a:pPr>
            <a:r>
              <a:rPr lang="en-US" sz="1200" dirty="0">
                <a:solidFill>
                  <a:srgbClr val="000000"/>
                </a:solidFill>
                <a:latin typeface="Arial" charset="0"/>
                <a:ea typeface="ＭＳ Ｐゴシック" charset="-128"/>
                <a:cs typeface="ＭＳ Ｐゴシック" charset="-128"/>
              </a:rPr>
              <a:t>Precipitation corrected to GPCPv2.1 pentads (for LSM initialization)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152400"/>
            <a:ext cx="7772400" cy="1143000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altLang="zh-TW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ea typeface="Times New Roman" charset="0"/>
                <a:cs typeface="Times New Roman" charset="0"/>
              </a:rPr>
              <a:t>Two-sided breeding in a coupled system</a:t>
            </a:r>
            <a:endParaRPr lang="en-US" dirty="0" smtClean="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457200" y="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defTabSz="457200" eaLnBrk="0" hangingPunct="0"/>
            <a:endParaRPr lang="en-US" altLang="zh-TW" sz="3600" b="1">
              <a:solidFill>
                <a:srgbClr val="000000"/>
              </a:solidFill>
              <a:ea typeface="Times New Roman" pitchFamily="34" charset="0"/>
              <a:cs typeface="Times New Roman" pitchFamily="34" charset="0"/>
            </a:endParaRPr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349250" y="4779963"/>
            <a:ext cx="8458200" cy="166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defTabSz="457200" eaLnBrk="0" hangingPunct="0">
              <a:spcAft>
                <a:spcPct val="20000"/>
              </a:spcAft>
              <a:buFontTx/>
              <a:buChar char="•"/>
              <a:tabLst>
                <a:tab pos="358775" algn="l"/>
              </a:tabLst>
            </a:pPr>
            <a:r>
              <a:rPr lang="en-US" altLang="zh-TW" sz="1400" b="1" dirty="0">
                <a:solidFill>
                  <a:srgbClr val="C0504D"/>
                </a:solidFill>
                <a:ea typeface="新細明體" pitchFamily="34" charset="-120"/>
                <a:cs typeface="新細明體" pitchFamily="34" charset="-120"/>
              </a:rPr>
              <a:t> </a:t>
            </a:r>
            <a:r>
              <a:rPr lang="en-US" altLang="zh-TW" sz="1600" b="1" dirty="0">
                <a:solidFill>
                  <a:srgbClr val="C0504D"/>
                </a:solidFill>
                <a:ea typeface="新細明體" pitchFamily="34" charset="-120"/>
                <a:cs typeface="新細明體" pitchFamily="34" charset="-120"/>
              </a:rPr>
              <a:t>Bred vectors</a:t>
            </a:r>
            <a:r>
              <a:rPr lang="en-US" altLang="zh-TW" sz="1600" dirty="0">
                <a:solidFill>
                  <a:srgbClr val="000000"/>
                </a:solidFill>
                <a:ea typeface="新細明體" pitchFamily="34" charset="-120"/>
                <a:cs typeface="新細明體" pitchFamily="34" charset="-120"/>
              </a:rPr>
              <a:t> : 0.5* difference between the</a:t>
            </a:r>
            <a:r>
              <a:rPr lang="en-US" altLang="zh-TW" sz="1600" dirty="0">
                <a:solidFill>
                  <a:srgbClr val="0000FF"/>
                </a:solidFill>
                <a:ea typeface="新細明體" pitchFamily="34" charset="-120"/>
                <a:cs typeface="新細明體" pitchFamily="34" charset="-120"/>
              </a:rPr>
              <a:t> coupled forecast with positive perturbation</a:t>
            </a:r>
            <a:r>
              <a:rPr lang="en-US" altLang="zh-TW" sz="1600" dirty="0">
                <a:solidFill>
                  <a:srgbClr val="000000"/>
                </a:solidFill>
                <a:ea typeface="新細明體" pitchFamily="34" charset="-120"/>
                <a:cs typeface="新細明體" pitchFamily="34" charset="-120"/>
              </a:rPr>
              <a:t> and the </a:t>
            </a:r>
            <a:r>
              <a:rPr lang="en-US" altLang="zh-TW" sz="1600" dirty="0">
                <a:solidFill>
                  <a:srgbClr val="31859C"/>
                </a:solidFill>
                <a:ea typeface="新細明體" pitchFamily="34" charset="-120"/>
                <a:cs typeface="新細明體" pitchFamily="34" charset="-120"/>
              </a:rPr>
              <a:t>coupled forecast with negative perturbation </a:t>
            </a:r>
            <a:r>
              <a:rPr lang="en-US" altLang="zh-TW" sz="1600" dirty="0">
                <a:ea typeface="新細明體" pitchFamily="34" charset="-120"/>
                <a:cs typeface="新細明體" pitchFamily="34" charset="-120"/>
              </a:rPr>
              <a:t>(accounts for model drift).</a:t>
            </a:r>
            <a:endParaRPr lang="en-US" altLang="zh-TW" sz="1600" dirty="0">
              <a:solidFill>
                <a:srgbClr val="000000"/>
              </a:solidFill>
              <a:ea typeface="新細明體" pitchFamily="34" charset="-120"/>
              <a:cs typeface="新細明體" pitchFamily="34" charset="-120"/>
            </a:endParaRPr>
          </a:p>
          <a:p>
            <a:pPr defTabSz="457200" eaLnBrk="0" hangingPunct="0">
              <a:spcAft>
                <a:spcPct val="20000"/>
              </a:spcAft>
              <a:buFontTx/>
              <a:buChar char="•"/>
              <a:tabLst>
                <a:tab pos="358775" algn="l"/>
              </a:tabLst>
            </a:pPr>
            <a:r>
              <a:rPr lang="en-US" sz="1600" dirty="0">
                <a:solidFill>
                  <a:srgbClr val="000000"/>
                </a:solidFill>
                <a:ea typeface="新細明體" pitchFamily="34" charset="-120"/>
                <a:cs typeface="新細明體" pitchFamily="34" charset="-120"/>
              </a:rPr>
              <a:t> Coupled breeding cycle needs to choose physically meaningful breeding parameters in order to choose the type of instability</a:t>
            </a:r>
            <a:r>
              <a:rPr lang="en-US" altLang="zh-TW" sz="1600" dirty="0">
                <a:solidFill>
                  <a:srgbClr val="000000"/>
                </a:solidFill>
                <a:ea typeface="新細明體" pitchFamily="34" charset="-120"/>
                <a:cs typeface="新細明體" pitchFamily="34" charset="-120"/>
              </a:rPr>
              <a:t> </a:t>
            </a:r>
            <a:endParaRPr lang="en-US" altLang="zh-TW" sz="1600" dirty="0" smtClean="0">
              <a:solidFill>
                <a:srgbClr val="000000"/>
              </a:solidFill>
              <a:ea typeface="新細明體" pitchFamily="34" charset="-120"/>
              <a:cs typeface="新細明體" pitchFamily="34" charset="-120"/>
            </a:endParaRPr>
          </a:p>
          <a:p>
            <a:pPr marL="522288" lvl="1" indent="-65088" defTabSz="457200" eaLnBrk="0" hangingPunct="0">
              <a:spcAft>
                <a:spcPct val="20000"/>
              </a:spcAft>
              <a:tabLst>
                <a:tab pos="358775" algn="l"/>
              </a:tabLst>
            </a:pPr>
            <a:r>
              <a:rPr lang="en-US" altLang="zh-TW" sz="1400" dirty="0" smtClean="0">
                <a:solidFill>
                  <a:srgbClr val="FF0000"/>
                </a:solidFill>
                <a:ea typeface="新細明體" pitchFamily="34" charset="-120"/>
                <a:cs typeface="新細明體" pitchFamily="34" charset="-120"/>
              </a:rPr>
              <a:t>For seasonal prediction: BV_SST</a:t>
            </a:r>
            <a:r>
              <a:rPr lang="en-US" altLang="zh-TW" sz="1400" dirty="0">
                <a:solidFill>
                  <a:srgbClr val="FF0000"/>
                </a:solidFill>
                <a:ea typeface="新細明體" pitchFamily="34" charset="-120"/>
                <a:cs typeface="新細明體" pitchFamily="34" charset="-120"/>
              </a:rPr>
              <a:t>=0.1</a:t>
            </a:r>
            <a:r>
              <a:rPr lang="en-US" altLang="zh-TW" sz="1400" dirty="0">
                <a:solidFill>
                  <a:srgbClr val="FF0000"/>
                </a:solidFill>
                <a:ea typeface="新細明體" pitchFamily="34" charset="-120"/>
                <a:cs typeface="新細明體" pitchFamily="34" charset="-120"/>
                <a:sym typeface="Symbol" pitchFamily="34" charset="2"/>
              </a:rPr>
              <a:t></a:t>
            </a:r>
            <a:r>
              <a:rPr lang="en-US" altLang="zh-TW" sz="1400" dirty="0">
                <a:solidFill>
                  <a:srgbClr val="FF0000"/>
                </a:solidFill>
                <a:ea typeface="新細明體" pitchFamily="34" charset="-120"/>
                <a:cs typeface="新細明體" pitchFamily="34" charset="-120"/>
              </a:rPr>
              <a:t>C in Niño3 region and rescaled every month</a:t>
            </a:r>
            <a:endParaRPr lang="en-US" altLang="zh-TW" sz="1400" b="1" dirty="0">
              <a:solidFill>
                <a:srgbClr val="000000"/>
              </a:solidFill>
              <a:ea typeface="新細明體" pitchFamily="34" charset="-120"/>
              <a:cs typeface="新細明體" pitchFamily="34" charset="-120"/>
            </a:endParaRPr>
          </a:p>
        </p:txBody>
      </p:sp>
      <p:sp>
        <p:nvSpPr>
          <p:cNvPr id="348166" name="Line 6"/>
          <p:cNvSpPr>
            <a:spLocks noChangeShapeType="1"/>
          </p:cNvSpPr>
          <p:nvPr/>
        </p:nvSpPr>
        <p:spPr bwMode="auto">
          <a:xfrm>
            <a:off x="0" y="762000"/>
            <a:ext cx="83820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black"/>
              </a:solidFill>
              <a:latin typeface="Calibri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2534" name="Slide Number Placeholder 7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EB9BE19-1464-4E44-A92D-F3B0D90DCB14}" type="slidenum">
              <a:rPr lang="en-US" smtClean="0">
                <a:latin typeface="Calibri" pitchFamily="34" charset="0"/>
                <a:ea typeface="ＭＳ Ｐゴシック" pitchFamily="34" charset="-128"/>
                <a:cs typeface="ＭＳ Ｐゴシック" pitchFamily="34" charset="-128"/>
              </a:rPr>
              <a:pPr/>
              <a:t>6</a:t>
            </a:fld>
            <a:endParaRPr lang="en-US" smtClean="0">
              <a:latin typeface="Calibri" pitchFamily="34" charset="0"/>
              <a:ea typeface="ＭＳ Ｐゴシック" pitchFamily="34" charset="-128"/>
              <a:cs typeface="ＭＳ Ｐゴシック" pitchFamily="34" charset="-128"/>
            </a:endParaRP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2222500" y="3832225"/>
            <a:ext cx="5549900" cy="914400"/>
            <a:chOff x="129112" y="3886200"/>
            <a:chExt cx="5549389" cy="914400"/>
          </a:xfrm>
        </p:grpSpPr>
        <p:grpSp>
          <p:nvGrpSpPr>
            <p:cNvPr id="3" name="Group 96"/>
            <p:cNvGrpSpPr>
              <a:grpSpLocks/>
            </p:cNvGrpSpPr>
            <p:nvPr/>
          </p:nvGrpSpPr>
          <p:grpSpPr bwMode="auto">
            <a:xfrm>
              <a:off x="152400" y="3886200"/>
              <a:ext cx="5526101" cy="914400"/>
              <a:chOff x="96" y="2784"/>
              <a:chExt cx="3481" cy="576"/>
            </a:xfrm>
          </p:grpSpPr>
          <p:sp>
            <p:nvSpPr>
              <p:cNvPr id="22596" name="AutoShape 81"/>
              <p:cNvSpPr>
                <a:spLocks noChangeArrowheads="1"/>
              </p:cNvSpPr>
              <p:nvPr/>
            </p:nvSpPr>
            <p:spPr bwMode="auto">
              <a:xfrm>
                <a:off x="156" y="3024"/>
                <a:ext cx="96" cy="96"/>
              </a:xfrm>
              <a:prstGeom prst="diamond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97" name="AutoShape 82"/>
              <p:cNvSpPr>
                <a:spLocks noChangeArrowheads="1"/>
              </p:cNvSpPr>
              <p:nvPr/>
            </p:nvSpPr>
            <p:spPr bwMode="auto">
              <a:xfrm>
                <a:off x="156" y="3163"/>
                <a:ext cx="96" cy="96"/>
              </a:xfrm>
              <a:prstGeom prst="cube">
                <a:avLst>
                  <a:gd name="adj" fmla="val 25000"/>
                </a:avLst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98" name="Text Box 83"/>
              <p:cNvSpPr txBox="1">
                <a:spLocks noChangeArrowheads="1"/>
              </p:cNvSpPr>
              <p:nvPr/>
            </p:nvSpPr>
            <p:spPr bwMode="auto">
              <a:xfrm>
                <a:off x="332" y="2834"/>
                <a:ext cx="3245" cy="4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400"/>
                  <a:t> – restarts from weakly coupled assimilation</a:t>
                </a:r>
              </a:p>
              <a:p>
                <a:r>
                  <a:rPr lang="en-US" sz="1400"/>
                  <a:t> –  positive and negative BVs</a:t>
                </a:r>
              </a:p>
              <a:p>
                <a:r>
                  <a:rPr lang="en-US" sz="1400"/>
                  <a:t> – 1-month forecast restarts from perturbed coupled runs</a:t>
                </a:r>
                <a:endParaRPr lang="en-US"/>
              </a:p>
            </p:txBody>
          </p:sp>
          <p:sp>
            <p:nvSpPr>
              <p:cNvPr id="22599" name="Rectangle 86"/>
              <p:cNvSpPr>
                <a:spLocks noChangeArrowheads="1"/>
              </p:cNvSpPr>
              <p:nvPr/>
            </p:nvSpPr>
            <p:spPr bwMode="auto">
              <a:xfrm>
                <a:off x="96" y="2784"/>
                <a:ext cx="3166" cy="57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2595" name="TextBox 34"/>
            <p:cNvSpPr txBox="1">
              <a:spLocks noChangeArrowheads="1"/>
            </p:cNvSpPr>
            <p:nvPr/>
          </p:nvSpPr>
          <p:spPr bwMode="auto">
            <a:xfrm>
              <a:off x="129112" y="3920061"/>
              <a:ext cx="38985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solidFill>
                    <a:srgbClr val="000000"/>
                  </a:solidFill>
                  <a:latin typeface="Zapf Dingbats" pitchFamily="34" charset="2"/>
                  <a:ea typeface="Zapf Dingbats" pitchFamily="34" charset="2"/>
                  <a:cs typeface="Zapf Dingbats" pitchFamily="34" charset="2"/>
                </a:rPr>
                <a:t>★</a:t>
              </a:r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2536" name="TextBox 107"/>
          <p:cNvSpPr txBox="1">
            <a:spLocks noChangeArrowheads="1"/>
          </p:cNvSpPr>
          <p:nvPr/>
        </p:nvSpPr>
        <p:spPr bwMode="auto">
          <a:xfrm>
            <a:off x="171450" y="6459538"/>
            <a:ext cx="180657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100" i="1"/>
              <a:t>Courtesy: Shu-Chih Yang</a:t>
            </a:r>
          </a:p>
        </p:txBody>
      </p:sp>
      <p:sp>
        <p:nvSpPr>
          <p:cNvPr id="75" name="AutoShape 81"/>
          <p:cNvSpPr>
            <a:spLocks noChangeArrowheads="1"/>
          </p:cNvSpPr>
          <p:nvPr/>
        </p:nvSpPr>
        <p:spPr bwMode="auto">
          <a:xfrm>
            <a:off x="2519363" y="4213225"/>
            <a:ext cx="152400" cy="1524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2538" name="AutoShape 82"/>
          <p:cNvSpPr>
            <a:spLocks noChangeArrowheads="1"/>
          </p:cNvSpPr>
          <p:nvPr/>
        </p:nvSpPr>
        <p:spPr bwMode="auto">
          <a:xfrm>
            <a:off x="2519363" y="4433888"/>
            <a:ext cx="152400" cy="152400"/>
          </a:xfrm>
          <a:prstGeom prst="cube">
            <a:avLst>
              <a:gd name="adj" fmla="val 25000"/>
            </a:avLst>
          </a:prstGeom>
          <a:solidFill>
            <a:srgbClr val="31859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135"/>
          <p:cNvGrpSpPr>
            <a:grpSpLocks/>
          </p:cNvGrpSpPr>
          <p:nvPr/>
        </p:nvGrpSpPr>
        <p:grpSpPr bwMode="auto">
          <a:xfrm>
            <a:off x="1285875" y="1096963"/>
            <a:ext cx="6594475" cy="2517775"/>
            <a:chOff x="574675" y="1096463"/>
            <a:chExt cx="6595001" cy="2517489"/>
          </a:xfrm>
        </p:grpSpPr>
        <p:cxnSp>
          <p:nvCxnSpPr>
            <p:cNvPr id="102" name="Straight Connector 101"/>
            <p:cNvCxnSpPr/>
            <p:nvPr/>
          </p:nvCxnSpPr>
          <p:spPr bwMode="auto">
            <a:xfrm rot="5400000">
              <a:off x="2579093" y="2557590"/>
              <a:ext cx="400005" cy="1588"/>
            </a:xfrm>
            <a:prstGeom prst="line">
              <a:avLst/>
            </a:prstGeom>
            <a:ln w="25400" cap="flat" cmpd="sng" algn="ctr">
              <a:solidFill>
                <a:srgbClr val="BD1798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41" name="AutoShape 26"/>
            <p:cNvSpPr>
              <a:spLocks noChangeArrowheads="1"/>
            </p:cNvSpPr>
            <p:nvPr/>
          </p:nvSpPr>
          <p:spPr bwMode="auto">
            <a:xfrm>
              <a:off x="685137" y="1930231"/>
              <a:ext cx="152419" cy="152368"/>
            </a:xfrm>
            <a:prstGeom prst="diamond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42" name="AutoShape 27"/>
            <p:cNvSpPr>
              <a:spLocks noChangeArrowheads="1"/>
            </p:cNvSpPr>
            <p:nvPr/>
          </p:nvSpPr>
          <p:spPr bwMode="auto">
            <a:xfrm>
              <a:off x="685137" y="2615886"/>
              <a:ext cx="152419" cy="152368"/>
            </a:xfrm>
            <a:prstGeom prst="diamond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2543" name="AutoShape 34"/>
            <p:cNvCxnSpPr>
              <a:cxnSpLocks noChangeShapeType="1"/>
              <a:stCxn id="22541" idx="3"/>
            </p:cNvCxnSpPr>
            <p:nvPr/>
          </p:nvCxnSpPr>
          <p:spPr bwMode="auto">
            <a:xfrm flipV="1">
              <a:off x="837556" y="1244576"/>
              <a:ext cx="1699895" cy="761839"/>
            </a:xfrm>
            <a:prstGeom prst="curvedConnector2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</p:cxnSp>
        <p:cxnSp>
          <p:nvCxnSpPr>
            <p:cNvPr id="22544" name="AutoShape 35"/>
            <p:cNvCxnSpPr>
              <a:cxnSpLocks noChangeShapeType="1"/>
              <a:stCxn id="22542" idx="3"/>
            </p:cNvCxnSpPr>
            <p:nvPr/>
          </p:nvCxnSpPr>
          <p:spPr bwMode="auto">
            <a:xfrm>
              <a:off x="837556" y="2692070"/>
              <a:ext cx="1737987" cy="761838"/>
            </a:xfrm>
            <a:prstGeom prst="curvedConnector2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</p:spPr>
        </p:cxnSp>
        <p:sp>
          <p:nvSpPr>
            <p:cNvPr id="22545" name="Line 40"/>
            <p:cNvSpPr>
              <a:spLocks noChangeShapeType="1"/>
            </p:cNvSpPr>
            <p:nvPr/>
          </p:nvSpPr>
          <p:spPr bwMode="auto">
            <a:xfrm>
              <a:off x="761346" y="2273058"/>
              <a:ext cx="0" cy="1523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46" name="Line 56"/>
            <p:cNvSpPr>
              <a:spLocks noChangeShapeType="1"/>
            </p:cNvSpPr>
            <p:nvPr/>
          </p:nvSpPr>
          <p:spPr bwMode="auto">
            <a:xfrm>
              <a:off x="744416" y="2330196"/>
              <a:ext cx="176974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47" name="TextBox 35"/>
            <p:cNvSpPr txBox="1">
              <a:spLocks noChangeArrowheads="1"/>
            </p:cNvSpPr>
            <p:nvPr/>
          </p:nvSpPr>
          <p:spPr bwMode="auto">
            <a:xfrm>
              <a:off x="574675" y="2120174"/>
              <a:ext cx="389898" cy="3692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latin typeface="Zapf Dingbats" pitchFamily="34" charset="2"/>
                  <a:ea typeface="Zapf Dingbats" pitchFamily="34" charset="2"/>
                  <a:cs typeface="Zapf Dingbats" pitchFamily="34" charset="2"/>
                </a:rPr>
                <a:t>★</a:t>
              </a:r>
              <a:endParaRPr lang="en-US"/>
            </a:p>
          </p:txBody>
        </p:sp>
        <p:sp>
          <p:nvSpPr>
            <p:cNvPr id="22548" name="TextBox 39"/>
            <p:cNvSpPr txBox="1">
              <a:spLocks noChangeArrowheads="1"/>
            </p:cNvSpPr>
            <p:nvPr/>
          </p:nvSpPr>
          <p:spPr bwMode="auto">
            <a:xfrm>
              <a:off x="803680" y="2029973"/>
              <a:ext cx="1604949" cy="2769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unperturbed forecast</a:t>
              </a:r>
            </a:p>
          </p:txBody>
        </p:sp>
        <p:sp>
          <p:nvSpPr>
            <p:cNvPr id="22549" name="Text Box 43"/>
            <p:cNvSpPr txBox="1">
              <a:spLocks noChangeArrowheads="1"/>
            </p:cNvSpPr>
            <p:nvPr/>
          </p:nvSpPr>
          <p:spPr bwMode="auto">
            <a:xfrm>
              <a:off x="2059330" y="2387327"/>
              <a:ext cx="648114" cy="246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000"/>
                <a:t>1 month</a:t>
              </a:r>
              <a:endParaRPr lang="en-US"/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 rot="5400000">
              <a:off x="2925980" y="1675806"/>
              <a:ext cx="301591" cy="295299"/>
            </a:xfrm>
            <a:prstGeom prst="straightConnector1">
              <a:avLst/>
            </a:prstGeom>
            <a:ln w="9525" cap="flat" cmpd="sng" algn="ctr">
              <a:solidFill>
                <a:srgbClr val="BD1798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85"/>
            <p:cNvGrpSpPr>
              <a:grpSpLocks/>
            </p:cNvGrpSpPr>
            <p:nvPr/>
          </p:nvGrpSpPr>
          <p:grpSpPr bwMode="auto">
            <a:xfrm>
              <a:off x="2374761" y="1096463"/>
              <a:ext cx="607779" cy="2514068"/>
              <a:chOff x="6093671" y="1081628"/>
              <a:chExt cx="607779" cy="2514068"/>
            </a:xfrm>
          </p:grpSpPr>
          <p:cxnSp>
            <p:nvCxnSpPr>
              <p:cNvPr id="105" name="Straight Connector 104"/>
              <p:cNvCxnSpPr/>
              <p:nvPr/>
            </p:nvCxnSpPr>
            <p:spPr bwMode="auto">
              <a:xfrm rot="5400000">
                <a:off x="6290065" y="2120528"/>
                <a:ext cx="400004" cy="1587"/>
              </a:xfrm>
              <a:prstGeom prst="line">
                <a:avLst/>
              </a:prstGeom>
              <a:ln>
                <a:solidFill>
                  <a:srgbClr val="BD179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86" name="AutoShape 28"/>
              <p:cNvSpPr>
                <a:spLocks noChangeArrowheads="1"/>
              </p:cNvSpPr>
              <p:nvPr/>
            </p:nvSpPr>
            <p:spPr bwMode="auto">
              <a:xfrm>
                <a:off x="6421637" y="2681489"/>
                <a:ext cx="152419" cy="152368"/>
              </a:xfrm>
              <a:prstGeom prst="diamond">
                <a:avLst/>
              </a:prstGeom>
              <a:solidFill>
                <a:srgbClr val="31859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87" name="AutoShape 29"/>
              <p:cNvSpPr>
                <a:spLocks noChangeArrowheads="1"/>
              </p:cNvSpPr>
              <p:nvPr/>
            </p:nvSpPr>
            <p:spPr bwMode="auto">
              <a:xfrm>
                <a:off x="6413170" y="1843467"/>
                <a:ext cx="152419" cy="152368"/>
              </a:xfrm>
              <a:prstGeom prst="diamond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88" name="AutoShape 30"/>
              <p:cNvSpPr>
                <a:spLocks noChangeArrowheads="1"/>
              </p:cNvSpPr>
              <p:nvPr/>
            </p:nvSpPr>
            <p:spPr bwMode="auto">
              <a:xfrm>
                <a:off x="6286165" y="3443328"/>
                <a:ext cx="152419" cy="152368"/>
              </a:xfrm>
              <a:prstGeom prst="cube">
                <a:avLst>
                  <a:gd name="adj" fmla="val 25000"/>
                </a:avLst>
              </a:prstGeom>
              <a:solidFill>
                <a:srgbClr val="31859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hlink"/>
                  </a:solidFill>
                </a:endParaRPr>
              </a:p>
            </p:txBody>
          </p:sp>
          <p:sp>
            <p:nvSpPr>
              <p:cNvPr id="22589" name="AutoShape 31"/>
              <p:cNvSpPr>
                <a:spLocks noChangeArrowheads="1"/>
              </p:cNvSpPr>
              <p:nvPr/>
            </p:nvSpPr>
            <p:spPr bwMode="auto">
              <a:xfrm>
                <a:off x="6286165" y="1081628"/>
                <a:ext cx="152419" cy="152368"/>
              </a:xfrm>
              <a:prstGeom prst="cube">
                <a:avLst>
                  <a:gd name="adj" fmla="val 25000"/>
                </a:avLst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90" name="Line 41"/>
              <p:cNvSpPr>
                <a:spLocks noChangeShapeType="1"/>
              </p:cNvSpPr>
              <p:nvPr/>
            </p:nvSpPr>
            <p:spPr bwMode="auto">
              <a:xfrm>
                <a:off x="6362374" y="2243432"/>
                <a:ext cx="0" cy="1523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22591" name="AutoShape 85"/>
              <p:cNvCxnSpPr>
                <a:cxnSpLocks noChangeShapeType="1"/>
              </p:cNvCxnSpPr>
              <p:nvPr/>
            </p:nvCxnSpPr>
            <p:spPr bwMode="auto">
              <a:xfrm rot="5400000">
                <a:off x="5282383" y="2299517"/>
                <a:ext cx="2160633" cy="3"/>
              </a:xfrm>
              <a:prstGeom prst="straightConnector1">
                <a:avLst/>
              </a:prstGeom>
              <a:noFill/>
              <a:ln w="9525">
                <a:solidFill>
                  <a:schemeClr val="hlink"/>
                </a:solidFill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2592" name="TextBox 105"/>
              <p:cNvSpPr txBox="1">
                <a:spLocks noChangeArrowheads="1"/>
              </p:cNvSpPr>
              <p:nvPr/>
            </p:nvSpPr>
            <p:spPr bwMode="auto">
              <a:xfrm>
                <a:off x="6311552" y="2084993"/>
                <a:ext cx="389898" cy="3692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solidFill>
                      <a:srgbClr val="000000"/>
                    </a:solidFill>
                    <a:latin typeface="Zapf Dingbats" pitchFamily="34" charset="2"/>
                    <a:ea typeface="Zapf Dingbats" pitchFamily="34" charset="2"/>
                    <a:cs typeface="Zapf Dingbats" pitchFamily="34" charset="2"/>
                  </a:rPr>
                  <a:t>★</a:t>
                </a: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593" name="TextBox 82"/>
              <p:cNvSpPr txBox="1">
                <a:spLocks noChangeArrowheads="1"/>
              </p:cNvSpPr>
              <p:nvPr/>
            </p:nvSpPr>
            <p:spPr bwMode="auto">
              <a:xfrm>
                <a:off x="6093671" y="1696342"/>
                <a:ext cx="30008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solidFill>
                      <a:srgbClr val="0000FF"/>
                    </a:solidFill>
                    <a:latin typeface="Symbol" pitchFamily="34" charset="2"/>
                    <a:ea typeface="Symbol" pitchFamily="34" charset="2"/>
                    <a:cs typeface="Symbol" pitchFamily="34" charset="2"/>
                  </a:rPr>
                  <a:t>δ</a:t>
                </a:r>
              </a:p>
            </p:txBody>
          </p:sp>
        </p:grpSp>
        <p:grpSp>
          <p:nvGrpSpPr>
            <p:cNvPr id="6" name="Group 100"/>
            <p:cNvGrpSpPr>
              <a:grpSpLocks/>
            </p:cNvGrpSpPr>
            <p:nvPr/>
          </p:nvGrpSpPr>
          <p:grpSpPr bwMode="auto">
            <a:xfrm>
              <a:off x="2870581" y="1139825"/>
              <a:ext cx="1078609" cy="566416"/>
              <a:chOff x="2709708" y="1139825"/>
              <a:chExt cx="1078609" cy="566416"/>
            </a:xfrm>
          </p:grpSpPr>
          <p:sp>
            <p:nvSpPr>
              <p:cNvPr id="22583" name="TextBox 38"/>
              <p:cNvSpPr txBox="1">
                <a:spLocks noChangeArrowheads="1"/>
              </p:cNvSpPr>
              <p:nvPr/>
            </p:nvSpPr>
            <p:spPr bwMode="auto">
              <a:xfrm>
                <a:off x="2709708" y="1244576"/>
                <a:ext cx="954483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solidFill>
                      <a:srgbClr val="660066"/>
                    </a:solidFill>
                  </a:rPr>
                  <a:t>rescaled </a:t>
                </a:r>
              </a:p>
              <a:p>
                <a:r>
                  <a:rPr lang="en-US" sz="1200">
                    <a:solidFill>
                      <a:srgbClr val="660066"/>
                    </a:solidFill>
                  </a:rPr>
                  <a:t>bred vector</a:t>
                </a:r>
              </a:p>
            </p:txBody>
          </p:sp>
          <p:sp>
            <p:nvSpPr>
              <p:cNvPr id="22584" name="TextBox 83"/>
              <p:cNvSpPr txBox="1">
                <a:spLocks noChangeArrowheads="1"/>
              </p:cNvSpPr>
              <p:nvPr/>
            </p:nvSpPr>
            <p:spPr bwMode="auto">
              <a:xfrm>
                <a:off x="3308699" y="1139825"/>
                <a:ext cx="479618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solidFill>
                      <a:srgbClr val="0000FF"/>
                    </a:solidFill>
                    <a:latin typeface="Symbol" pitchFamily="34" charset="2"/>
                    <a:ea typeface="Symbol" pitchFamily="34" charset="2"/>
                    <a:cs typeface="Symbol" pitchFamily="34" charset="2"/>
                  </a:rPr>
                  <a:t>δ/2</a:t>
                </a:r>
              </a:p>
            </p:txBody>
          </p:sp>
        </p:grpSp>
        <p:grpSp>
          <p:nvGrpSpPr>
            <p:cNvPr id="7" name="Group 106"/>
            <p:cNvGrpSpPr>
              <a:grpSpLocks/>
            </p:cNvGrpSpPr>
            <p:nvPr/>
          </p:nvGrpSpPr>
          <p:grpSpPr bwMode="auto">
            <a:xfrm>
              <a:off x="2878667" y="1098563"/>
              <a:ext cx="2175139" cy="2514068"/>
              <a:chOff x="5381472" y="1073155"/>
              <a:chExt cx="2175139" cy="2514068"/>
            </a:xfrm>
          </p:grpSpPr>
          <p:cxnSp>
            <p:nvCxnSpPr>
              <p:cNvPr id="106" name="Straight Connector 105"/>
              <p:cNvCxnSpPr/>
              <p:nvPr/>
            </p:nvCxnSpPr>
            <p:spPr bwMode="auto">
              <a:xfrm rot="5400000">
                <a:off x="7155338" y="2505198"/>
                <a:ext cx="400004" cy="1588"/>
              </a:xfrm>
              <a:prstGeom prst="line">
                <a:avLst/>
              </a:prstGeom>
              <a:ln w="25400" cap="flat" cmpd="sng" algn="ctr">
                <a:solidFill>
                  <a:srgbClr val="BD1798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" name="Group 86"/>
              <p:cNvGrpSpPr>
                <a:grpSpLocks/>
              </p:cNvGrpSpPr>
              <p:nvPr/>
            </p:nvGrpSpPr>
            <p:grpSpPr bwMode="auto">
              <a:xfrm>
                <a:off x="5381472" y="1073155"/>
                <a:ext cx="2175139" cy="2514068"/>
                <a:chOff x="4534778" y="1081628"/>
                <a:chExt cx="2175139" cy="2514068"/>
              </a:xfrm>
            </p:grpSpPr>
            <p:cxnSp>
              <p:nvCxnSpPr>
                <p:cNvPr id="98" name="Straight Connector 97"/>
                <p:cNvCxnSpPr/>
                <p:nvPr/>
              </p:nvCxnSpPr>
              <p:spPr bwMode="auto">
                <a:xfrm rot="5400000">
                  <a:off x="6307057" y="2120016"/>
                  <a:ext cx="400004" cy="1587"/>
                </a:xfrm>
                <a:prstGeom prst="line">
                  <a:avLst/>
                </a:prstGeom>
                <a:ln>
                  <a:solidFill>
                    <a:srgbClr val="BD1798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573" name="AutoShape 28"/>
                <p:cNvSpPr>
                  <a:spLocks noChangeArrowheads="1"/>
                </p:cNvSpPr>
                <p:nvPr/>
              </p:nvSpPr>
              <p:spPr bwMode="auto">
                <a:xfrm>
                  <a:off x="6430104" y="2681489"/>
                  <a:ext cx="152419" cy="152368"/>
                </a:xfrm>
                <a:prstGeom prst="diamond">
                  <a:avLst/>
                </a:prstGeom>
                <a:solidFill>
                  <a:srgbClr val="31859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74" name="AutoShape 29"/>
                <p:cNvSpPr>
                  <a:spLocks noChangeArrowheads="1"/>
                </p:cNvSpPr>
                <p:nvPr/>
              </p:nvSpPr>
              <p:spPr bwMode="auto">
                <a:xfrm>
                  <a:off x="6421637" y="1843467"/>
                  <a:ext cx="152419" cy="152368"/>
                </a:xfrm>
                <a:prstGeom prst="diamond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75" name="AutoShape 30"/>
                <p:cNvSpPr>
                  <a:spLocks noChangeArrowheads="1"/>
                </p:cNvSpPr>
                <p:nvPr/>
              </p:nvSpPr>
              <p:spPr bwMode="auto">
                <a:xfrm>
                  <a:off x="6286165" y="3443328"/>
                  <a:ext cx="152419" cy="152368"/>
                </a:xfrm>
                <a:prstGeom prst="cube">
                  <a:avLst>
                    <a:gd name="adj" fmla="val 25000"/>
                  </a:avLst>
                </a:prstGeom>
                <a:solidFill>
                  <a:srgbClr val="31859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2576" name="AutoShape 31"/>
                <p:cNvSpPr>
                  <a:spLocks noChangeArrowheads="1"/>
                </p:cNvSpPr>
                <p:nvPr/>
              </p:nvSpPr>
              <p:spPr bwMode="auto">
                <a:xfrm>
                  <a:off x="6286165" y="1081628"/>
                  <a:ext cx="152419" cy="15236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22577" name="AutoShape 34"/>
                <p:cNvCxnSpPr>
                  <a:cxnSpLocks noChangeShapeType="1"/>
                  <a:endCxn id="22576" idx="3"/>
                </p:cNvCxnSpPr>
                <p:nvPr/>
              </p:nvCxnSpPr>
              <p:spPr bwMode="auto">
                <a:xfrm flipV="1">
                  <a:off x="4685768" y="1233996"/>
                  <a:ext cx="1657554" cy="761839"/>
                </a:xfrm>
                <a:prstGeom prst="curvedConnector2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2578" name="AutoShape 35"/>
                <p:cNvCxnSpPr>
                  <a:cxnSpLocks noChangeShapeType="1"/>
                  <a:endCxn id="22575" idx="0"/>
                </p:cNvCxnSpPr>
                <p:nvPr/>
              </p:nvCxnSpPr>
              <p:spPr bwMode="auto">
                <a:xfrm>
                  <a:off x="4685768" y="2681489"/>
                  <a:ext cx="1695659" cy="761839"/>
                </a:xfrm>
                <a:prstGeom prst="curvedConnector2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</p:cxnSp>
            <p:sp>
              <p:nvSpPr>
                <p:cNvPr id="22579" name="Line 41"/>
                <p:cNvSpPr>
                  <a:spLocks noChangeShapeType="1"/>
                </p:cNvSpPr>
                <p:nvPr/>
              </p:nvSpPr>
              <p:spPr bwMode="auto">
                <a:xfrm>
                  <a:off x="6362374" y="2243432"/>
                  <a:ext cx="0" cy="1523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80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4534778" y="2304804"/>
                  <a:ext cx="1802192" cy="79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stealth" w="med" len="med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22581" name="AutoShape 8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282383" y="2299517"/>
                  <a:ext cx="2160633" cy="3"/>
                </a:xfrm>
                <a:prstGeom prst="straightConnector1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22582" name="TextBox 105"/>
                <p:cNvSpPr txBox="1">
                  <a:spLocks noChangeArrowheads="1"/>
                </p:cNvSpPr>
                <p:nvPr/>
              </p:nvSpPr>
              <p:spPr bwMode="auto">
                <a:xfrm>
                  <a:off x="6320019" y="2076526"/>
                  <a:ext cx="389898" cy="3692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>
                      <a:solidFill>
                        <a:srgbClr val="000000"/>
                      </a:solidFill>
                      <a:latin typeface="Zapf Dingbats" pitchFamily="34" charset="2"/>
                      <a:ea typeface="Zapf Dingbats" pitchFamily="34" charset="2"/>
                      <a:cs typeface="Zapf Dingbats" pitchFamily="34" charset="2"/>
                    </a:rPr>
                    <a:t>★</a:t>
                  </a: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22554" name="TextBox 102"/>
            <p:cNvSpPr txBox="1">
              <a:spLocks noChangeArrowheads="1"/>
            </p:cNvSpPr>
            <p:nvPr/>
          </p:nvSpPr>
          <p:spPr bwMode="auto">
            <a:xfrm>
              <a:off x="2780313" y="1937581"/>
              <a:ext cx="4667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FF"/>
                  </a:solidFill>
                  <a:latin typeface="Symbol" pitchFamily="34" charset="2"/>
                  <a:ea typeface="Symbol" pitchFamily="34" charset="2"/>
                  <a:cs typeface="Symbol" pitchFamily="34" charset="2"/>
                </a:rPr>
                <a:t>+δ/2</a:t>
              </a:r>
            </a:p>
          </p:txBody>
        </p:sp>
        <p:sp>
          <p:nvSpPr>
            <p:cNvPr id="22555" name="TextBox 103"/>
            <p:cNvSpPr txBox="1">
              <a:spLocks noChangeArrowheads="1"/>
            </p:cNvSpPr>
            <p:nvPr/>
          </p:nvSpPr>
          <p:spPr bwMode="auto">
            <a:xfrm>
              <a:off x="2792336" y="2338887"/>
              <a:ext cx="457352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 sz="1200">
                  <a:solidFill>
                    <a:srgbClr val="0000FF"/>
                  </a:solidFill>
                  <a:latin typeface="Symbol" pitchFamily="34" charset="2"/>
                  <a:ea typeface="Symbol" pitchFamily="34" charset="2"/>
                  <a:cs typeface="Symbol" pitchFamily="34" charset="2"/>
                </a:rPr>
                <a:t>-δ/2</a:t>
              </a:r>
            </a:p>
          </p:txBody>
        </p:sp>
        <p:grpSp>
          <p:nvGrpSpPr>
            <p:cNvPr id="9" name="Group 107"/>
            <p:cNvGrpSpPr>
              <a:grpSpLocks/>
            </p:cNvGrpSpPr>
            <p:nvPr/>
          </p:nvGrpSpPr>
          <p:grpSpPr bwMode="auto">
            <a:xfrm>
              <a:off x="4994537" y="1099884"/>
              <a:ext cx="2175139" cy="2514068"/>
              <a:chOff x="5381472" y="1073155"/>
              <a:chExt cx="2175139" cy="2514068"/>
            </a:xfrm>
          </p:grpSpPr>
          <p:cxnSp>
            <p:nvCxnSpPr>
              <p:cNvPr id="109" name="Straight Connector 108"/>
              <p:cNvCxnSpPr/>
              <p:nvPr/>
            </p:nvCxnSpPr>
            <p:spPr bwMode="auto">
              <a:xfrm rot="5400000">
                <a:off x="7155775" y="2505464"/>
                <a:ext cx="400004" cy="1587"/>
              </a:xfrm>
              <a:prstGeom prst="line">
                <a:avLst/>
              </a:prstGeom>
              <a:ln w="25400" cap="flat" cmpd="sng" algn="ctr">
                <a:solidFill>
                  <a:srgbClr val="BD1798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" name="Group 86"/>
              <p:cNvGrpSpPr>
                <a:grpSpLocks/>
              </p:cNvGrpSpPr>
              <p:nvPr/>
            </p:nvGrpSpPr>
            <p:grpSpPr bwMode="auto">
              <a:xfrm>
                <a:off x="5381472" y="1073155"/>
                <a:ext cx="2175139" cy="2514068"/>
                <a:chOff x="4534778" y="1081628"/>
                <a:chExt cx="2175139" cy="2514068"/>
              </a:xfrm>
            </p:grpSpPr>
            <p:cxnSp>
              <p:nvCxnSpPr>
                <p:cNvPr id="111" name="Straight Connector 110"/>
                <p:cNvCxnSpPr/>
                <p:nvPr/>
              </p:nvCxnSpPr>
              <p:spPr bwMode="auto">
                <a:xfrm rot="5400000">
                  <a:off x="6307493" y="2120282"/>
                  <a:ext cx="400004" cy="1588"/>
                </a:xfrm>
                <a:prstGeom prst="line">
                  <a:avLst/>
                </a:prstGeom>
                <a:ln>
                  <a:solidFill>
                    <a:srgbClr val="BD1798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560" name="AutoShape 28"/>
                <p:cNvSpPr>
                  <a:spLocks noChangeArrowheads="1"/>
                </p:cNvSpPr>
                <p:nvPr/>
              </p:nvSpPr>
              <p:spPr bwMode="auto">
                <a:xfrm>
                  <a:off x="6430104" y="2681489"/>
                  <a:ext cx="152419" cy="152368"/>
                </a:xfrm>
                <a:prstGeom prst="diamond">
                  <a:avLst/>
                </a:prstGeom>
                <a:solidFill>
                  <a:srgbClr val="31859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61" name="AutoShape 29"/>
                <p:cNvSpPr>
                  <a:spLocks noChangeArrowheads="1"/>
                </p:cNvSpPr>
                <p:nvPr/>
              </p:nvSpPr>
              <p:spPr bwMode="auto">
                <a:xfrm>
                  <a:off x="6421637" y="1843467"/>
                  <a:ext cx="152419" cy="152368"/>
                </a:xfrm>
                <a:prstGeom prst="diamond">
                  <a:avLst/>
                </a:prstGeom>
                <a:solidFill>
                  <a:srgbClr val="0000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62" name="AutoShape 30"/>
                <p:cNvSpPr>
                  <a:spLocks noChangeArrowheads="1"/>
                </p:cNvSpPr>
                <p:nvPr/>
              </p:nvSpPr>
              <p:spPr bwMode="auto">
                <a:xfrm>
                  <a:off x="6286165" y="3443328"/>
                  <a:ext cx="152419" cy="152368"/>
                </a:xfrm>
                <a:prstGeom prst="cube">
                  <a:avLst>
                    <a:gd name="adj" fmla="val 25000"/>
                  </a:avLst>
                </a:prstGeom>
                <a:solidFill>
                  <a:srgbClr val="31859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>
                    <a:solidFill>
                      <a:schemeClr val="hlink"/>
                    </a:solidFill>
                  </a:endParaRPr>
                </a:p>
              </p:txBody>
            </p:sp>
            <p:sp>
              <p:nvSpPr>
                <p:cNvPr id="22563" name="AutoShape 31"/>
                <p:cNvSpPr>
                  <a:spLocks noChangeArrowheads="1"/>
                </p:cNvSpPr>
                <p:nvPr/>
              </p:nvSpPr>
              <p:spPr bwMode="auto">
                <a:xfrm>
                  <a:off x="6286165" y="1081628"/>
                  <a:ext cx="152419" cy="15236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22564" name="AutoShape 34"/>
                <p:cNvCxnSpPr>
                  <a:cxnSpLocks noChangeShapeType="1"/>
                  <a:endCxn id="22563" idx="3"/>
                </p:cNvCxnSpPr>
                <p:nvPr/>
              </p:nvCxnSpPr>
              <p:spPr bwMode="auto">
                <a:xfrm flipV="1">
                  <a:off x="4685768" y="1233996"/>
                  <a:ext cx="1657554" cy="761839"/>
                </a:xfrm>
                <a:prstGeom prst="curvedConnector2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22565" name="AutoShape 35"/>
                <p:cNvCxnSpPr>
                  <a:cxnSpLocks noChangeShapeType="1"/>
                  <a:endCxn id="22562" idx="0"/>
                </p:cNvCxnSpPr>
                <p:nvPr/>
              </p:nvCxnSpPr>
              <p:spPr bwMode="auto">
                <a:xfrm>
                  <a:off x="4685768" y="2681489"/>
                  <a:ext cx="1695659" cy="761839"/>
                </a:xfrm>
                <a:prstGeom prst="curvedConnector2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 type="triangle" w="med" len="med"/>
                </a:ln>
              </p:spPr>
            </p:cxnSp>
            <p:sp>
              <p:nvSpPr>
                <p:cNvPr id="22566" name="Line 41"/>
                <p:cNvSpPr>
                  <a:spLocks noChangeShapeType="1"/>
                </p:cNvSpPr>
                <p:nvPr/>
              </p:nvSpPr>
              <p:spPr bwMode="auto">
                <a:xfrm>
                  <a:off x="6362374" y="2243432"/>
                  <a:ext cx="0" cy="1523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2567" name="Line 56"/>
                <p:cNvSpPr>
                  <a:spLocks noChangeShapeType="1"/>
                </p:cNvSpPr>
                <p:nvPr/>
              </p:nvSpPr>
              <p:spPr bwMode="auto">
                <a:xfrm flipV="1">
                  <a:off x="4534778" y="2304804"/>
                  <a:ext cx="1802192" cy="79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stealth" w="med" len="med"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cxnSp>
              <p:nvCxnSpPr>
                <p:cNvPr id="22568" name="AutoShape 8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5282383" y="2299517"/>
                  <a:ext cx="2160633" cy="3"/>
                </a:xfrm>
                <a:prstGeom prst="straightConnector1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22569" name="TextBox 105"/>
                <p:cNvSpPr txBox="1">
                  <a:spLocks noChangeArrowheads="1"/>
                </p:cNvSpPr>
                <p:nvPr/>
              </p:nvSpPr>
              <p:spPr bwMode="auto">
                <a:xfrm>
                  <a:off x="6320019" y="2076526"/>
                  <a:ext cx="389898" cy="3692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>
                      <a:solidFill>
                        <a:srgbClr val="000000"/>
                      </a:solidFill>
                      <a:latin typeface="Zapf Dingbats" pitchFamily="34" charset="2"/>
                      <a:ea typeface="Zapf Dingbats" pitchFamily="34" charset="2"/>
                      <a:cs typeface="Zapf Dingbats" pitchFamily="34" charset="2"/>
                    </a:rPr>
                    <a:t>★</a:t>
                  </a:r>
                  <a:endParaRPr 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7086600" y="6248400"/>
            <a:ext cx="1905000" cy="457200"/>
          </a:xfrm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898989"/>
              </a:solidFill>
              <a:ea typeface="ＭＳ Ｐゴシック" charset="-128"/>
              <a:cs typeface="ＭＳ Ｐゴシック" charset="-128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34182C7-F4C9-C447-8D8A-5160405B86B5}" type="slidenum">
              <a:rPr lang="en-US">
                <a:solidFill>
                  <a:srgbClr val="898989"/>
                </a:solidFill>
                <a:ea typeface="ＭＳ Ｐゴシック" charset="-128"/>
                <a:cs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>
              <a:solidFill>
                <a:srgbClr val="898989"/>
              </a:solidFill>
              <a:ea typeface="ＭＳ Ｐゴシック" charset="-128"/>
              <a:cs typeface="ＭＳ Ｐゴシック" charset="-128"/>
            </a:endParaRPr>
          </a:p>
        </p:txBody>
      </p:sp>
      <p:sp>
        <p:nvSpPr>
          <p:cNvPr id="18435" name="TextBox 318"/>
          <p:cNvSpPr txBox="1">
            <a:spLocks noChangeArrowheads="1"/>
          </p:cNvSpPr>
          <p:nvPr/>
        </p:nvSpPr>
        <p:spPr bwMode="auto">
          <a:xfrm>
            <a:off x="311150" y="5878513"/>
            <a:ext cx="8564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0" tIns="45706" rIns="91410" bIns="45706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pitchFamily="34" charset="0"/>
              </a:rPr>
              <a:t>Forecast anomalies calculated relative to ensemble climatological drift for each start date</a:t>
            </a:r>
          </a:p>
        </p:txBody>
      </p:sp>
      <p:sp>
        <p:nvSpPr>
          <p:cNvPr id="18436" name="TextBox 86"/>
          <p:cNvSpPr txBox="1">
            <a:spLocks noChangeArrowheads="1"/>
          </p:cNvSpPr>
          <p:nvPr/>
        </p:nvSpPr>
        <p:spPr bwMode="auto">
          <a:xfrm>
            <a:off x="1209675" y="4992688"/>
            <a:ext cx="6750050" cy="661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10" tIns="45706" rIns="91410" bIns="45706">
            <a:prstTxWarp prst="textNoShape">
              <a:avLst/>
            </a:prstTxWarp>
            <a:spAutoFit/>
          </a:bodyPr>
          <a:lstStyle/>
          <a:p>
            <a:r>
              <a:rPr lang="en-US" sz="1200"/>
              <a:t>Seasonal ensembles:</a:t>
            </a:r>
          </a:p>
          <a:p>
            <a:r>
              <a:rPr lang="en-US" sz="1200"/>
              <a:t>1</a:t>
            </a:r>
            <a:r>
              <a:rPr lang="en-US" sz="1200" baseline="30000"/>
              <a:t>st</a:t>
            </a:r>
            <a:r>
              <a:rPr lang="en-US" sz="1200"/>
              <a:t> of month: Bred Vector perturbations (1-month rescaling) and/or coupled EnKF perturbations</a:t>
            </a:r>
          </a:p>
          <a:p>
            <a:r>
              <a:rPr lang="en-US" sz="1200"/>
              <a:t>Later initialization to subsample subseasonal evolution in initial conditions</a:t>
            </a:r>
          </a:p>
        </p:txBody>
      </p:sp>
      <p:sp>
        <p:nvSpPr>
          <p:cNvPr id="35" name="Title 1"/>
          <p:cNvSpPr txBox="1">
            <a:spLocks/>
          </p:cNvSpPr>
          <p:nvPr/>
        </p:nvSpPr>
        <p:spPr bwMode="auto">
          <a:xfrm>
            <a:off x="330200" y="57150"/>
            <a:ext cx="6842125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10" tIns="45706" rIns="91410" bIns="45706" anchor="ctr">
            <a:prstTxWarp prst="textNoShape">
              <a:avLst/>
            </a:prstTxWarp>
          </a:bodyPr>
          <a:lstStyle/>
          <a:p>
            <a:pPr defTabSz="914400" eaLnBrk="0" hangingPunct="0">
              <a:lnSpc>
                <a:spcPct val="85000"/>
              </a:lnSpc>
              <a:defRPr/>
            </a:pPr>
            <a:r>
              <a:rPr lang="en-US" sz="24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ＭＳ Ｐゴシック" charset="-128"/>
                <a:cs typeface="ＭＳ Ｐゴシック" charset="-128"/>
              </a:rPr>
              <a:t>Seasonal Forecast strategy with GEOS-5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293688" y="1354138"/>
            <a:ext cx="8926512" cy="3486150"/>
            <a:chOff x="294214" y="1354671"/>
            <a:chExt cx="8925989" cy="3485648"/>
          </a:xfrm>
        </p:grpSpPr>
        <p:grpSp>
          <p:nvGrpSpPr>
            <p:cNvPr id="3" name="Group 314"/>
            <p:cNvGrpSpPr>
              <a:grpSpLocks/>
            </p:cNvGrpSpPr>
            <p:nvPr/>
          </p:nvGrpSpPr>
          <p:grpSpPr bwMode="auto">
            <a:xfrm>
              <a:off x="294214" y="1730406"/>
              <a:ext cx="8580438" cy="3109913"/>
              <a:chOff x="410841" y="2557341"/>
              <a:chExt cx="8581332" cy="3109410"/>
            </a:xfrm>
          </p:grpSpPr>
          <p:sp>
            <p:nvSpPr>
              <p:cNvPr id="18448" name="Line 71"/>
              <p:cNvSpPr>
                <a:spLocks noChangeAspect="1" noChangeShapeType="1"/>
              </p:cNvSpPr>
              <p:nvPr/>
            </p:nvSpPr>
            <p:spPr bwMode="auto">
              <a:xfrm>
                <a:off x="1258104" y="4134877"/>
                <a:ext cx="752181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49" name="TextBox 233"/>
              <p:cNvSpPr txBox="1">
                <a:spLocks noChangeArrowheads="1"/>
              </p:cNvSpPr>
              <p:nvPr/>
            </p:nvSpPr>
            <p:spPr bwMode="auto">
              <a:xfrm>
                <a:off x="1837222" y="4451158"/>
                <a:ext cx="1473746" cy="12155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latin typeface="Calibri" pitchFamily="34" charset="0"/>
                  </a:rPr>
                  <a:t>1982</a:t>
                </a:r>
              </a:p>
              <a:p>
                <a:r>
                  <a:rPr lang="en-US" sz="1200">
                    <a:latin typeface="Calibri" pitchFamily="34" charset="0"/>
                  </a:rPr>
                  <a:t>1983</a:t>
                </a:r>
              </a:p>
              <a:p>
                <a:r>
                  <a:rPr lang="en-US" sz="1200">
                    <a:latin typeface="Calibri" pitchFamily="34" charset="0"/>
                  </a:rPr>
                  <a:t>⡇</a:t>
                </a:r>
              </a:p>
              <a:p>
                <a:r>
                  <a:rPr lang="en-US" sz="1200">
                    <a:latin typeface="Calibri" pitchFamily="34" charset="0"/>
                  </a:rPr>
                  <a:t>1990</a:t>
                </a:r>
              </a:p>
              <a:p>
                <a:r>
                  <a:rPr lang="en-US" sz="1200">
                    <a:latin typeface="Calibri" pitchFamily="34" charset="0"/>
                  </a:rPr>
                  <a:t>⡇</a:t>
                </a:r>
              </a:p>
              <a:p>
                <a:r>
                  <a:rPr lang="en-US" sz="1200">
                    <a:latin typeface="Calibri" pitchFamily="34" charset="0"/>
                  </a:rPr>
                  <a:t>2011               </a:t>
                </a:r>
              </a:p>
            </p:txBody>
          </p:sp>
          <p:sp>
            <p:nvSpPr>
              <p:cNvPr id="18450" name="TextBox 240"/>
              <p:cNvSpPr txBox="1">
                <a:spLocks noChangeArrowheads="1"/>
              </p:cNvSpPr>
              <p:nvPr/>
            </p:nvSpPr>
            <p:spPr bwMode="auto">
              <a:xfrm>
                <a:off x="410841" y="2863241"/>
                <a:ext cx="1587158" cy="6462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latin typeface="Calibri" pitchFamily="34" charset="0"/>
                  </a:rPr>
                  <a:t>Seasonal Forecasts</a:t>
                </a:r>
              </a:p>
            </p:txBody>
          </p:sp>
          <p:sp>
            <p:nvSpPr>
              <p:cNvPr id="18451" name="TextBox 281"/>
              <p:cNvSpPr txBox="1">
                <a:spLocks noChangeArrowheads="1"/>
              </p:cNvSpPr>
              <p:nvPr/>
            </p:nvSpPr>
            <p:spPr bwMode="auto">
              <a:xfrm>
                <a:off x="1863476" y="4216025"/>
                <a:ext cx="5116751" cy="3077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400">
                    <a:latin typeface="Calibri" pitchFamily="34" charset="0"/>
                  </a:rPr>
                  <a:t>Jan                                Feb                          Mar                                Apr…..</a:t>
                </a:r>
              </a:p>
            </p:txBody>
          </p:sp>
          <p:sp>
            <p:nvSpPr>
              <p:cNvPr id="18452" name="TextBox 282"/>
              <p:cNvSpPr txBox="1">
                <a:spLocks noChangeArrowheads="1"/>
              </p:cNvSpPr>
              <p:nvPr/>
            </p:nvSpPr>
            <p:spPr bwMode="auto">
              <a:xfrm>
                <a:off x="1838021" y="4067117"/>
                <a:ext cx="1698078" cy="2769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200">
                    <a:latin typeface="Calibri" pitchFamily="34" charset="0"/>
                  </a:rPr>
                  <a:t>1    6    11    16    21     27  </a:t>
                </a:r>
              </a:p>
            </p:txBody>
          </p:sp>
          <p:grpSp>
            <p:nvGrpSpPr>
              <p:cNvPr id="4" name="Group 313"/>
              <p:cNvGrpSpPr>
                <a:grpSpLocks/>
              </p:cNvGrpSpPr>
              <p:nvPr/>
            </p:nvGrpSpPr>
            <p:grpSpPr bwMode="auto">
              <a:xfrm>
                <a:off x="1879432" y="2557341"/>
                <a:ext cx="7096864" cy="678816"/>
                <a:chOff x="1879432" y="2557341"/>
                <a:chExt cx="7096864" cy="678816"/>
              </a:xfrm>
            </p:grpSpPr>
            <p:cxnSp>
              <p:nvCxnSpPr>
                <p:cNvPr id="280" name="Straight Arrow Connector 279"/>
                <p:cNvCxnSpPr/>
                <p:nvPr/>
              </p:nvCxnSpPr>
              <p:spPr>
                <a:xfrm>
                  <a:off x="1887283" y="2557789"/>
                  <a:ext cx="5953396" cy="1588"/>
                </a:xfrm>
                <a:prstGeom prst="straightConnector1">
                  <a:avLst/>
                </a:prstGeom>
                <a:ln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Arrow Connector 275"/>
                <p:cNvCxnSpPr/>
                <p:nvPr/>
              </p:nvCxnSpPr>
              <p:spPr>
                <a:xfrm>
                  <a:off x="2177809" y="2857735"/>
                  <a:ext cx="5653345" cy="1587"/>
                </a:xfrm>
                <a:prstGeom prst="straightConnector1">
                  <a:avLst/>
                </a:prstGeom>
                <a:ln>
                  <a:solidFill>
                    <a:srgbClr val="FC99D4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Arrow Connector 286"/>
                <p:cNvCxnSpPr/>
                <p:nvPr/>
              </p:nvCxnSpPr>
              <p:spPr>
                <a:xfrm>
                  <a:off x="1879345" y="2633966"/>
                  <a:ext cx="5951809" cy="1588"/>
                </a:xfrm>
                <a:prstGeom prst="straightConnector1">
                  <a:avLst/>
                </a:prstGeom>
                <a:ln>
                  <a:solidFill>
                    <a:srgbClr val="FDACDB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Arrow Connector 287"/>
                <p:cNvCxnSpPr/>
                <p:nvPr/>
              </p:nvCxnSpPr>
              <p:spPr>
                <a:xfrm>
                  <a:off x="1896809" y="2710142"/>
                  <a:ext cx="5951808" cy="1588"/>
                </a:xfrm>
                <a:prstGeom prst="straightConnector1">
                  <a:avLst/>
                </a:prstGeom>
                <a:ln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Arrow Connector 290"/>
                <p:cNvCxnSpPr/>
                <p:nvPr/>
              </p:nvCxnSpPr>
              <p:spPr>
                <a:xfrm>
                  <a:off x="2355617" y="2929150"/>
                  <a:ext cx="5485063" cy="1588"/>
                </a:xfrm>
                <a:prstGeom prst="straightConnector1">
                  <a:avLst/>
                </a:prstGeom>
                <a:ln>
                  <a:solidFill>
                    <a:srgbClr val="FC99D4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Arrow Connector 292"/>
                <p:cNvCxnSpPr/>
                <p:nvPr/>
              </p:nvCxnSpPr>
              <p:spPr>
                <a:xfrm>
                  <a:off x="2660431" y="3048177"/>
                  <a:ext cx="6315362" cy="1587"/>
                </a:xfrm>
                <a:prstGeom prst="straightConnector1">
                  <a:avLst/>
                </a:prstGeom>
                <a:ln>
                  <a:solidFill>
                    <a:srgbClr val="FC99D4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Arrow Connector 294"/>
                <p:cNvCxnSpPr/>
                <p:nvPr/>
              </p:nvCxnSpPr>
              <p:spPr>
                <a:xfrm>
                  <a:off x="2947782" y="3152920"/>
                  <a:ext cx="6028011" cy="1587"/>
                </a:xfrm>
                <a:prstGeom prst="straightConnector1">
                  <a:avLst/>
                </a:prstGeom>
                <a:ln>
                  <a:solidFill>
                    <a:srgbClr val="FC99D4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Arrow Connector 296"/>
                <p:cNvCxnSpPr/>
                <p:nvPr/>
              </p:nvCxnSpPr>
              <p:spPr>
                <a:xfrm>
                  <a:off x="3277997" y="3238618"/>
                  <a:ext cx="5697796" cy="1587"/>
                </a:xfrm>
                <a:prstGeom prst="straightConnector1">
                  <a:avLst/>
                </a:prstGeom>
                <a:ln>
                  <a:solidFill>
                    <a:srgbClr val="FC99D4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299"/>
              <p:cNvGrpSpPr>
                <a:grpSpLocks/>
              </p:cNvGrpSpPr>
              <p:nvPr/>
            </p:nvGrpSpPr>
            <p:grpSpPr bwMode="auto">
              <a:xfrm>
                <a:off x="3422643" y="3396993"/>
                <a:ext cx="5569530" cy="363478"/>
                <a:chOff x="2810850" y="1995204"/>
                <a:chExt cx="5969686" cy="363478"/>
              </a:xfrm>
            </p:grpSpPr>
            <p:cxnSp>
              <p:nvCxnSpPr>
                <p:cNvPr id="301" name="Straight Arrow Connector 300"/>
                <p:cNvCxnSpPr/>
                <p:nvPr/>
              </p:nvCxnSpPr>
              <p:spPr>
                <a:xfrm>
                  <a:off x="2819168" y="1995531"/>
                  <a:ext cx="5952320" cy="1587"/>
                </a:xfrm>
                <a:prstGeom prst="straightConnector1">
                  <a:avLst/>
                </a:prstGeom>
                <a:ln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Arrow Connector 301"/>
                <p:cNvCxnSpPr/>
                <p:nvPr/>
              </p:nvCxnSpPr>
              <p:spPr>
                <a:xfrm>
                  <a:off x="3108446" y="2289128"/>
                  <a:ext cx="5654533" cy="1588"/>
                </a:xfrm>
                <a:prstGeom prst="straightConnector1">
                  <a:avLst/>
                </a:prstGeom>
                <a:ln>
                  <a:solidFill>
                    <a:srgbClr val="FC99D4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Arrow Connector 302"/>
                <p:cNvCxnSpPr/>
                <p:nvPr/>
              </p:nvCxnSpPr>
              <p:spPr>
                <a:xfrm>
                  <a:off x="2810659" y="2068534"/>
                  <a:ext cx="5952320" cy="0"/>
                </a:xfrm>
                <a:prstGeom prst="straightConnector1">
                  <a:avLst/>
                </a:prstGeom>
                <a:ln>
                  <a:solidFill>
                    <a:srgbClr val="FDACDB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Arrow Connector 303"/>
                <p:cNvCxnSpPr/>
                <p:nvPr/>
              </p:nvCxnSpPr>
              <p:spPr>
                <a:xfrm>
                  <a:off x="2827676" y="2143123"/>
                  <a:ext cx="5952320" cy="1588"/>
                </a:xfrm>
                <a:prstGeom prst="straightConnector1">
                  <a:avLst/>
                </a:prstGeom>
                <a:ln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Arrow Connector 304"/>
                <p:cNvCxnSpPr/>
                <p:nvPr/>
              </p:nvCxnSpPr>
              <p:spPr>
                <a:xfrm>
                  <a:off x="3287117" y="2357370"/>
                  <a:ext cx="5484371" cy="1587"/>
                </a:xfrm>
                <a:prstGeom prst="straightConnector1">
                  <a:avLst/>
                </a:prstGeom>
                <a:ln>
                  <a:solidFill>
                    <a:srgbClr val="FC99D4"/>
                  </a:solidFill>
                  <a:tailEnd type="arrow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10" name="Straight Arrow Connector 309"/>
            <p:cNvCxnSpPr/>
            <p:nvPr/>
          </p:nvCxnSpPr>
          <p:spPr bwMode="auto">
            <a:xfrm>
              <a:off x="1787963" y="1959421"/>
              <a:ext cx="5951189" cy="1588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Arrow Connector 310"/>
            <p:cNvCxnSpPr/>
            <p:nvPr/>
          </p:nvCxnSpPr>
          <p:spPr bwMode="auto">
            <a:xfrm>
              <a:off x="1780027" y="1662602"/>
              <a:ext cx="5951188" cy="1587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Arrow Connector 311"/>
            <p:cNvCxnSpPr/>
            <p:nvPr/>
          </p:nvCxnSpPr>
          <p:spPr bwMode="auto">
            <a:xfrm>
              <a:off x="3321399" y="2497506"/>
              <a:ext cx="5552750" cy="1587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Arrow Connector 312"/>
            <p:cNvCxnSpPr/>
            <p:nvPr/>
          </p:nvCxnSpPr>
          <p:spPr bwMode="auto">
            <a:xfrm>
              <a:off x="3313462" y="2775278"/>
              <a:ext cx="5551162" cy="1588"/>
            </a:xfrm>
            <a:prstGeom prst="straightConnector1">
              <a:avLst/>
            </a:prstGeom>
            <a:ln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444" name="TextBox 316"/>
            <p:cNvSpPr txBox="1">
              <a:spLocks noChangeArrowheads="1"/>
            </p:cNvSpPr>
            <p:nvPr/>
          </p:nvSpPr>
          <p:spPr bwMode="auto">
            <a:xfrm>
              <a:off x="7635878" y="1651258"/>
              <a:ext cx="1584325" cy="307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10" tIns="45706" rIns="91410" bIns="45706">
              <a:prstTxWarp prst="textNoShape">
                <a:avLst/>
              </a:prstTxWarp>
              <a:spAutoFit/>
            </a:bodyPr>
            <a:lstStyle/>
            <a:p>
              <a:r>
                <a:rPr lang="en-US" sz="1400">
                  <a:latin typeface="Calibri" pitchFamily="34" charset="0"/>
                </a:rPr>
                <a:t>9-month duration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 bwMode="auto">
            <a:xfrm>
              <a:off x="1524454" y="1572127"/>
              <a:ext cx="6189300" cy="1588"/>
            </a:xfrm>
            <a:prstGeom prst="straightConnector1">
              <a:avLst/>
            </a:prstGeom>
            <a:ln>
              <a:solidFill>
                <a:srgbClr val="FC99D4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 bwMode="auto">
            <a:xfrm>
              <a:off x="1289518" y="1462605"/>
              <a:ext cx="6424237" cy="1587"/>
            </a:xfrm>
            <a:prstGeom prst="straightConnector1">
              <a:avLst/>
            </a:prstGeom>
            <a:ln>
              <a:solidFill>
                <a:srgbClr val="FC99D4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 bwMode="auto">
            <a:xfrm>
              <a:off x="1141889" y="1354671"/>
              <a:ext cx="6571865" cy="1587"/>
            </a:xfrm>
            <a:prstGeom prst="straightConnector1">
              <a:avLst/>
            </a:prstGeom>
            <a:ln>
              <a:solidFill>
                <a:srgbClr val="FC99D4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873</Words>
  <Application>Microsoft Macintosh PowerPoint</Application>
  <PresentationFormat>On-screen Show (4:3)</PresentationFormat>
  <Paragraphs>160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GEOS-5 AGCM for ISI Prediction</vt:lpstr>
      <vt:lpstr>The GEOS-5 OGCM for ISI Prediction</vt:lpstr>
      <vt:lpstr>PowerPoint Presentation</vt:lpstr>
      <vt:lpstr>GEOS ODAS-2</vt:lpstr>
      <vt:lpstr>PowerPoint Presentation</vt:lpstr>
      <vt:lpstr>Two-sided breeding in a coupled system</vt:lpstr>
      <vt:lpstr>PowerPoint Presentation</vt:lpstr>
    </vt:vector>
  </TitlesOfParts>
  <Company>NASA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Intra-seasonal to Seasonal Forecasting at the NASA Global Modeling and Assimilation Office</dc:title>
  <dc:creator>Siegfried Schubert</dc:creator>
  <cp:lastModifiedBy>Siegfried</cp:lastModifiedBy>
  <cp:revision>44</cp:revision>
  <cp:lastPrinted>2011-02-15T16:44:47Z</cp:lastPrinted>
  <dcterms:created xsi:type="dcterms:W3CDTF">2011-04-11T23:23:13Z</dcterms:created>
  <dcterms:modified xsi:type="dcterms:W3CDTF">2011-11-02T02:37:46Z</dcterms:modified>
</cp:coreProperties>
</file>